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1" r:id="rId5"/>
    <p:sldId id="259" r:id="rId6"/>
    <p:sldId id="260" r:id="rId7"/>
    <p:sldId id="270" r:id="rId8"/>
    <p:sldId id="272" r:id="rId9"/>
    <p:sldId id="262" r:id="rId10"/>
    <p:sldId id="263" r:id="rId11"/>
    <p:sldId id="264" r:id="rId12"/>
    <p:sldId id="265" r:id="rId13"/>
    <p:sldId id="268" r:id="rId14"/>
    <p:sldId id="269" r:id="rId15"/>
    <p:sldId id="266" r:id="rId16"/>
    <p:sldId id="267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E73935-9611-4413-9677-DC5888DDD6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9081D3E-C9A3-4948-A170-91E316475A89}">
      <dgm:prSet/>
      <dgm:spPr/>
      <dgm:t>
        <a:bodyPr/>
        <a:lstStyle/>
        <a:p>
          <a:pPr algn="ctr"/>
          <a:r>
            <a:rPr lang="en-US" b="1" dirty="0"/>
            <a:t>Customer Choose Cloths</a:t>
          </a:r>
          <a:endParaRPr lang="en-IN" b="1" dirty="0"/>
        </a:p>
      </dgm:t>
    </dgm:pt>
    <dgm:pt modelId="{D0C6A450-BBC6-4820-9B6B-3C8D058CDEED}" type="parTrans" cxnId="{ABCE5FD0-16F7-40E4-BDB6-DC909C0C4A62}">
      <dgm:prSet/>
      <dgm:spPr/>
      <dgm:t>
        <a:bodyPr/>
        <a:lstStyle/>
        <a:p>
          <a:endParaRPr lang="en-IN"/>
        </a:p>
      </dgm:t>
    </dgm:pt>
    <dgm:pt modelId="{17F5C3A5-29D4-4E9F-BA1B-97B093853F61}" type="sibTrans" cxnId="{ABCE5FD0-16F7-40E4-BDB6-DC909C0C4A62}">
      <dgm:prSet/>
      <dgm:spPr/>
      <dgm:t>
        <a:bodyPr/>
        <a:lstStyle/>
        <a:p>
          <a:endParaRPr lang="en-IN"/>
        </a:p>
      </dgm:t>
    </dgm:pt>
    <dgm:pt modelId="{E17AA2E4-8E25-42E8-B405-5BC950FEF867}" type="pres">
      <dgm:prSet presAssocID="{D7E73935-9611-4413-9677-DC5888DDD681}" presName="linear" presStyleCnt="0">
        <dgm:presLayoutVars>
          <dgm:animLvl val="lvl"/>
          <dgm:resizeHandles val="exact"/>
        </dgm:presLayoutVars>
      </dgm:prSet>
      <dgm:spPr/>
    </dgm:pt>
    <dgm:pt modelId="{5898EC9D-3742-4580-9D3A-B47F5184CC42}" type="pres">
      <dgm:prSet presAssocID="{D9081D3E-C9A3-4948-A170-91E316475A89}" presName="parentText" presStyleLbl="node1" presStyleIdx="0" presStyleCnt="1" custLinFactNeighborX="-41312" custLinFactNeighborY="24756">
        <dgm:presLayoutVars>
          <dgm:chMax val="0"/>
          <dgm:bulletEnabled val="1"/>
        </dgm:presLayoutVars>
      </dgm:prSet>
      <dgm:spPr/>
    </dgm:pt>
  </dgm:ptLst>
  <dgm:cxnLst>
    <dgm:cxn modelId="{139A0390-B7F8-4DB3-8FCE-6BB90AAA6DC9}" type="presOf" srcId="{D7E73935-9611-4413-9677-DC5888DDD681}" destId="{E17AA2E4-8E25-42E8-B405-5BC950FEF867}" srcOrd="0" destOrd="0" presId="urn:microsoft.com/office/officeart/2005/8/layout/vList2"/>
    <dgm:cxn modelId="{C696CABF-C44A-44D1-9DC8-E26A85ED66BF}" type="presOf" srcId="{D9081D3E-C9A3-4948-A170-91E316475A89}" destId="{5898EC9D-3742-4580-9D3A-B47F5184CC42}" srcOrd="0" destOrd="0" presId="urn:microsoft.com/office/officeart/2005/8/layout/vList2"/>
    <dgm:cxn modelId="{ABCE5FD0-16F7-40E4-BDB6-DC909C0C4A62}" srcId="{D7E73935-9611-4413-9677-DC5888DDD681}" destId="{D9081D3E-C9A3-4948-A170-91E316475A89}" srcOrd="0" destOrd="0" parTransId="{D0C6A450-BBC6-4820-9B6B-3C8D058CDEED}" sibTransId="{17F5C3A5-29D4-4E9F-BA1B-97B093853F61}"/>
    <dgm:cxn modelId="{79B53136-D907-4D74-96D3-DC5B782BB256}" type="presParOf" srcId="{E17AA2E4-8E25-42E8-B405-5BC950FEF867}" destId="{5898EC9D-3742-4580-9D3A-B47F5184CC4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A43AD3-2483-46CD-9606-B53CB51715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926E560-EF88-4FDF-8D58-CC50151B5D20}">
      <dgm:prSet/>
      <dgm:spPr/>
      <dgm:t>
        <a:bodyPr/>
        <a:lstStyle/>
        <a:p>
          <a:pPr algn="ctr"/>
          <a:r>
            <a:rPr lang="en-US" b="1" dirty="0"/>
            <a:t>Arrange Changing Desk </a:t>
          </a:r>
          <a:endParaRPr lang="en-IN" b="1" dirty="0"/>
        </a:p>
      </dgm:t>
    </dgm:pt>
    <dgm:pt modelId="{8BB83361-7C79-4B81-BF55-AB0F202753C1}" type="parTrans" cxnId="{A1415293-7DEC-4660-82D2-DC641C7DC545}">
      <dgm:prSet/>
      <dgm:spPr/>
      <dgm:t>
        <a:bodyPr/>
        <a:lstStyle/>
        <a:p>
          <a:endParaRPr lang="en-IN"/>
        </a:p>
      </dgm:t>
    </dgm:pt>
    <dgm:pt modelId="{A5326C89-23F7-46F4-83F0-63D9B1B50C58}" type="sibTrans" cxnId="{A1415293-7DEC-4660-82D2-DC641C7DC545}">
      <dgm:prSet/>
      <dgm:spPr/>
      <dgm:t>
        <a:bodyPr/>
        <a:lstStyle/>
        <a:p>
          <a:endParaRPr lang="en-IN"/>
        </a:p>
      </dgm:t>
    </dgm:pt>
    <dgm:pt modelId="{8225602B-3EA7-46B9-B03A-6D7725141DAF}" type="pres">
      <dgm:prSet presAssocID="{73A43AD3-2483-46CD-9606-B53CB51715C1}" presName="linear" presStyleCnt="0">
        <dgm:presLayoutVars>
          <dgm:animLvl val="lvl"/>
          <dgm:resizeHandles val="exact"/>
        </dgm:presLayoutVars>
      </dgm:prSet>
      <dgm:spPr/>
    </dgm:pt>
    <dgm:pt modelId="{6C0D87C3-E13D-4092-A9B1-BFE9F443C223}" type="pres">
      <dgm:prSet presAssocID="{A926E560-EF88-4FDF-8D58-CC50151B5D2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4CDAE8E-6253-42DC-93DD-75B077873DEF}" type="presOf" srcId="{A926E560-EF88-4FDF-8D58-CC50151B5D20}" destId="{6C0D87C3-E13D-4092-A9B1-BFE9F443C223}" srcOrd="0" destOrd="0" presId="urn:microsoft.com/office/officeart/2005/8/layout/vList2"/>
    <dgm:cxn modelId="{C08EBD8E-BBC7-4858-B0D3-25445AC30040}" type="presOf" srcId="{73A43AD3-2483-46CD-9606-B53CB51715C1}" destId="{8225602B-3EA7-46B9-B03A-6D7725141DAF}" srcOrd="0" destOrd="0" presId="urn:microsoft.com/office/officeart/2005/8/layout/vList2"/>
    <dgm:cxn modelId="{A1415293-7DEC-4660-82D2-DC641C7DC545}" srcId="{73A43AD3-2483-46CD-9606-B53CB51715C1}" destId="{A926E560-EF88-4FDF-8D58-CC50151B5D20}" srcOrd="0" destOrd="0" parTransId="{8BB83361-7C79-4B81-BF55-AB0F202753C1}" sibTransId="{A5326C89-23F7-46F4-83F0-63D9B1B50C58}"/>
    <dgm:cxn modelId="{988A7004-2148-4077-ACE3-74255D587C60}" type="presParOf" srcId="{8225602B-3EA7-46B9-B03A-6D7725141DAF}" destId="{6C0D87C3-E13D-4092-A9B1-BFE9F443C2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3D3B4F-8102-4D7D-8FBC-4455F688A9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53AB9B8-A4EB-4C84-9CD3-2BDB23B37460}">
      <dgm:prSet/>
      <dgm:spPr/>
      <dgm:t>
        <a:bodyPr/>
        <a:lstStyle/>
        <a:p>
          <a:pPr algn="ctr"/>
          <a:r>
            <a:rPr lang="en-US" b="1" dirty="0"/>
            <a:t>Enter Cloth Code</a:t>
          </a:r>
          <a:endParaRPr lang="en-IN" b="1" dirty="0"/>
        </a:p>
      </dgm:t>
    </dgm:pt>
    <dgm:pt modelId="{289803E5-F220-447F-8D92-739D676193DE}" type="parTrans" cxnId="{1226D550-8C58-4E75-BE4A-B98C0F025EAF}">
      <dgm:prSet/>
      <dgm:spPr/>
      <dgm:t>
        <a:bodyPr/>
        <a:lstStyle/>
        <a:p>
          <a:endParaRPr lang="en-IN"/>
        </a:p>
      </dgm:t>
    </dgm:pt>
    <dgm:pt modelId="{ADEC2072-2CE9-4808-9E70-53AD9E2A25AF}" type="sibTrans" cxnId="{1226D550-8C58-4E75-BE4A-B98C0F025EAF}">
      <dgm:prSet/>
      <dgm:spPr/>
      <dgm:t>
        <a:bodyPr/>
        <a:lstStyle/>
        <a:p>
          <a:endParaRPr lang="en-IN"/>
        </a:p>
      </dgm:t>
    </dgm:pt>
    <dgm:pt modelId="{EEE50105-BDBF-4CF7-A453-F375F63D6B6C}" type="pres">
      <dgm:prSet presAssocID="{B03D3B4F-8102-4D7D-8FBC-4455F688A993}" presName="linear" presStyleCnt="0">
        <dgm:presLayoutVars>
          <dgm:animLvl val="lvl"/>
          <dgm:resizeHandles val="exact"/>
        </dgm:presLayoutVars>
      </dgm:prSet>
      <dgm:spPr/>
    </dgm:pt>
    <dgm:pt modelId="{2B5E57F7-C8BB-4402-B8D3-95A9CD4FBD31}" type="pres">
      <dgm:prSet presAssocID="{453AB9B8-A4EB-4C84-9CD3-2BDB23B3746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C51F86D-3089-4FE2-B999-1933D6F1D4C1}" type="presOf" srcId="{B03D3B4F-8102-4D7D-8FBC-4455F688A993}" destId="{EEE50105-BDBF-4CF7-A453-F375F63D6B6C}" srcOrd="0" destOrd="0" presId="urn:microsoft.com/office/officeart/2005/8/layout/vList2"/>
    <dgm:cxn modelId="{1226D550-8C58-4E75-BE4A-B98C0F025EAF}" srcId="{B03D3B4F-8102-4D7D-8FBC-4455F688A993}" destId="{453AB9B8-A4EB-4C84-9CD3-2BDB23B37460}" srcOrd="0" destOrd="0" parTransId="{289803E5-F220-447F-8D92-739D676193DE}" sibTransId="{ADEC2072-2CE9-4808-9E70-53AD9E2A25AF}"/>
    <dgm:cxn modelId="{45EDB5E2-9743-40EB-B4BA-A3EBBA577AC6}" type="presOf" srcId="{453AB9B8-A4EB-4C84-9CD3-2BDB23B37460}" destId="{2B5E57F7-C8BB-4402-B8D3-95A9CD4FBD31}" srcOrd="0" destOrd="0" presId="urn:microsoft.com/office/officeart/2005/8/layout/vList2"/>
    <dgm:cxn modelId="{B7E2C955-D1D4-49B7-A1BC-DE3B97F807E8}" type="presParOf" srcId="{EEE50105-BDBF-4CF7-A453-F375F63D6B6C}" destId="{2B5E57F7-C8BB-4402-B8D3-95A9CD4FBD3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0EF10E-00BE-48FC-A61D-6A4B8716B7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5D2C185-1D1B-4A8B-9B37-3BF76F78BE60}">
      <dgm:prSet/>
      <dgm:spPr/>
      <dgm:t>
        <a:bodyPr/>
        <a:lstStyle/>
        <a:p>
          <a:pPr algn="ctr"/>
          <a:r>
            <a:rPr lang="en-US" b="1" dirty="0"/>
            <a:t>Cloths Size Recognition</a:t>
          </a:r>
          <a:endParaRPr lang="en-IN" b="1" dirty="0"/>
        </a:p>
      </dgm:t>
    </dgm:pt>
    <dgm:pt modelId="{1B1D909D-D1AC-4B4B-A4C0-450A905B98C2}" type="parTrans" cxnId="{EF1883EF-9FD4-41CC-830D-CD6E6E22D232}">
      <dgm:prSet/>
      <dgm:spPr/>
      <dgm:t>
        <a:bodyPr/>
        <a:lstStyle/>
        <a:p>
          <a:endParaRPr lang="en-IN"/>
        </a:p>
      </dgm:t>
    </dgm:pt>
    <dgm:pt modelId="{EF580865-341A-464A-88F2-4B240F158399}" type="sibTrans" cxnId="{EF1883EF-9FD4-41CC-830D-CD6E6E22D232}">
      <dgm:prSet/>
      <dgm:spPr/>
      <dgm:t>
        <a:bodyPr/>
        <a:lstStyle/>
        <a:p>
          <a:endParaRPr lang="en-IN"/>
        </a:p>
      </dgm:t>
    </dgm:pt>
    <dgm:pt modelId="{AC0A2609-1853-4C21-9913-B612127C95C6}" type="pres">
      <dgm:prSet presAssocID="{AE0EF10E-00BE-48FC-A61D-6A4B8716B7E2}" presName="linear" presStyleCnt="0">
        <dgm:presLayoutVars>
          <dgm:animLvl val="lvl"/>
          <dgm:resizeHandles val="exact"/>
        </dgm:presLayoutVars>
      </dgm:prSet>
      <dgm:spPr/>
    </dgm:pt>
    <dgm:pt modelId="{5822FA78-C76F-419A-B546-124BDEC865A7}" type="pres">
      <dgm:prSet presAssocID="{D5D2C185-1D1B-4A8B-9B37-3BF76F78BE6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089D727-C83F-4AE7-AF5C-EEE68AF9A734}" type="presOf" srcId="{D5D2C185-1D1B-4A8B-9B37-3BF76F78BE60}" destId="{5822FA78-C76F-419A-B546-124BDEC865A7}" srcOrd="0" destOrd="0" presId="urn:microsoft.com/office/officeart/2005/8/layout/vList2"/>
    <dgm:cxn modelId="{3E2E0DD4-3EBB-479C-B704-E32A91815F59}" type="presOf" srcId="{AE0EF10E-00BE-48FC-A61D-6A4B8716B7E2}" destId="{AC0A2609-1853-4C21-9913-B612127C95C6}" srcOrd="0" destOrd="0" presId="urn:microsoft.com/office/officeart/2005/8/layout/vList2"/>
    <dgm:cxn modelId="{EF1883EF-9FD4-41CC-830D-CD6E6E22D232}" srcId="{AE0EF10E-00BE-48FC-A61D-6A4B8716B7E2}" destId="{D5D2C185-1D1B-4A8B-9B37-3BF76F78BE60}" srcOrd="0" destOrd="0" parTransId="{1B1D909D-D1AC-4B4B-A4C0-450A905B98C2}" sibTransId="{EF580865-341A-464A-88F2-4B240F158399}"/>
    <dgm:cxn modelId="{2BCA316E-8335-4084-85F8-2513D26042D5}" type="presParOf" srcId="{AC0A2609-1853-4C21-9913-B612127C95C6}" destId="{5822FA78-C76F-419A-B546-124BDEC865A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F7253D-B78D-487C-8D14-8B33DA0DB0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F5C7AF1-514B-42DB-912F-66C840A7D132}">
      <dgm:prSet/>
      <dgm:spPr/>
      <dgm:t>
        <a:bodyPr/>
        <a:lstStyle/>
        <a:p>
          <a:pPr algn="ctr"/>
          <a:r>
            <a:rPr lang="en-US" b="1" dirty="0"/>
            <a:t>Body Recognize </a:t>
          </a:r>
          <a:endParaRPr lang="en-IN" b="1" dirty="0"/>
        </a:p>
      </dgm:t>
    </dgm:pt>
    <dgm:pt modelId="{37A882CC-6416-4A8F-86EF-1089D2FA54A2}" type="parTrans" cxnId="{BFB42413-DF3C-4365-A357-FA8B8FCC7985}">
      <dgm:prSet/>
      <dgm:spPr/>
      <dgm:t>
        <a:bodyPr/>
        <a:lstStyle/>
        <a:p>
          <a:endParaRPr lang="en-IN"/>
        </a:p>
      </dgm:t>
    </dgm:pt>
    <dgm:pt modelId="{37619087-5BC9-4DE7-B9AD-9E2CAB2BA733}" type="sibTrans" cxnId="{BFB42413-DF3C-4365-A357-FA8B8FCC7985}">
      <dgm:prSet/>
      <dgm:spPr/>
      <dgm:t>
        <a:bodyPr/>
        <a:lstStyle/>
        <a:p>
          <a:endParaRPr lang="en-IN"/>
        </a:p>
      </dgm:t>
    </dgm:pt>
    <dgm:pt modelId="{6B2FA381-7D8E-4653-BD2F-94BA10064368}" type="pres">
      <dgm:prSet presAssocID="{B1F7253D-B78D-487C-8D14-8B33DA0DB0AC}" presName="linear" presStyleCnt="0">
        <dgm:presLayoutVars>
          <dgm:animLvl val="lvl"/>
          <dgm:resizeHandles val="exact"/>
        </dgm:presLayoutVars>
      </dgm:prSet>
      <dgm:spPr/>
    </dgm:pt>
    <dgm:pt modelId="{998CAF1A-A5A9-4063-8E73-24D878731164}" type="pres">
      <dgm:prSet presAssocID="{FF5C7AF1-514B-42DB-912F-66C840A7D13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A019B02-6D31-4721-9E2E-C01761A908CE}" type="presOf" srcId="{B1F7253D-B78D-487C-8D14-8B33DA0DB0AC}" destId="{6B2FA381-7D8E-4653-BD2F-94BA10064368}" srcOrd="0" destOrd="0" presId="urn:microsoft.com/office/officeart/2005/8/layout/vList2"/>
    <dgm:cxn modelId="{BFB42413-DF3C-4365-A357-FA8B8FCC7985}" srcId="{B1F7253D-B78D-487C-8D14-8B33DA0DB0AC}" destId="{FF5C7AF1-514B-42DB-912F-66C840A7D132}" srcOrd="0" destOrd="0" parTransId="{37A882CC-6416-4A8F-86EF-1089D2FA54A2}" sibTransId="{37619087-5BC9-4DE7-B9AD-9E2CAB2BA733}"/>
    <dgm:cxn modelId="{A1559A64-3A3D-4AA3-9967-D07EF75FA92B}" type="presOf" srcId="{FF5C7AF1-514B-42DB-912F-66C840A7D132}" destId="{998CAF1A-A5A9-4063-8E73-24D878731164}" srcOrd="0" destOrd="0" presId="urn:microsoft.com/office/officeart/2005/8/layout/vList2"/>
    <dgm:cxn modelId="{455BAFBC-8A27-44A1-A3DD-3E0FDA2DB974}" type="presParOf" srcId="{6B2FA381-7D8E-4653-BD2F-94BA10064368}" destId="{998CAF1A-A5A9-4063-8E73-24D87873116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7FBDAB-4EE4-4706-A867-2140A4FA23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8B5059-B895-4E4F-A81F-18737EDF6816}">
      <dgm:prSet custT="1"/>
      <dgm:spPr/>
      <dgm:t>
        <a:bodyPr/>
        <a:lstStyle/>
        <a:p>
          <a:pPr algn="ctr"/>
          <a:r>
            <a:rPr lang="en-US" sz="1800" b="1" dirty="0"/>
            <a:t>Fit and manage Selected Cloth</a:t>
          </a:r>
          <a:endParaRPr lang="en-IN" sz="1800" b="1" dirty="0"/>
        </a:p>
      </dgm:t>
    </dgm:pt>
    <dgm:pt modelId="{9AEE1986-973D-48F7-AF2C-A03C84B13F7D}" type="parTrans" cxnId="{0AC5912E-527C-4DBC-8B31-E4105E84FFE6}">
      <dgm:prSet/>
      <dgm:spPr/>
      <dgm:t>
        <a:bodyPr/>
        <a:lstStyle/>
        <a:p>
          <a:endParaRPr lang="en-IN"/>
        </a:p>
      </dgm:t>
    </dgm:pt>
    <dgm:pt modelId="{39FFA667-6923-4591-879C-76F6AD16129E}" type="sibTrans" cxnId="{0AC5912E-527C-4DBC-8B31-E4105E84FFE6}">
      <dgm:prSet/>
      <dgm:spPr/>
      <dgm:t>
        <a:bodyPr/>
        <a:lstStyle/>
        <a:p>
          <a:endParaRPr lang="en-IN"/>
        </a:p>
      </dgm:t>
    </dgm:pt>
    <dgm:pt modelId="{03902BFC-C005-424D-9E1F-18DAA3EF3908}" type="pres">
      <dgm:prSet presAssocID="{377FBDAB-4EE4-4706-A867-2140A4FA23E0}" presName="linear" presStyleCnt="0">
        <dgm:presLayoutVars>
          <dgm:animLvl val="lvl"/>
          <dgm:resizeHandles val="exact"/>
        </dgm:presLayoutVars>
      </dgm:prSet>
      <dgm:spPr/>
    </dgm:pt>
    <dgm:pt modelId="{084EEC67-F0E9-4E90-85DE-3786176FBB4A}" type="pres">
      <dgm:prSet presAssocID="{258B5059-B895-4E4F-A81F-18737EDF6816}" presName="parentText" presStyleLbl="node1" presStyleIdx="0" presStyleCnt="1" custScaleY="259158" custLinFactNeighborX="8004" custLinFactNeighborY="-2930">
        <dgm:presLayoutVars>
          <dgm:chMax val="0"/>
          <dgm:bulletEnabled val="1"/>
        </dgm:presLayoutVars>
      </dgm:prSet>
      <dgm:spPr/>
    </dgm:pt>
  </dgm:ptLst>
  <dgm:cxnLst>
    <dgm:cxn modelId="{BF155A1F-1A00-44EC-8324-DB4DD440EAFC}" type="presOf" srcId="{258B5059-B895-4E4F-A81F-18737EDF6816}" destId="{084EEC67-F0E9-4E90-85DE-3786176FBB4A}" srcOrd="0" destOrd="0" presId="urn:microsoft.com/office/officeart/2005/8/layout/vList2"/>
    <dgm:cxn modelId="{0AC5912E-527C-4DBC-8B31-E4105E84FFE6}" srcId="{377FBDAB-4EE4-4706-A867-2140A4FA23E0}" destId="{258B5059-B895-4E4F-A81F-18737EDF6816}" srcOrd="0" destOrd="0" parTransId="{9AEE1986-973D-48F7-AF2C-A03C84B13F7D}" sibTransId="{39FFA667-6923-4591-879C-76F6AD16129E}"/>
    <dgm:cxn modelId="{16E19E52-22BA-4B74-A705-6BE74BFA9A2A}" type="presOf" srcId="{377FBDAB-4EE4-4706-A867-2140A4FA23E0}" destId="{03902BFC-C005-424D-9E1F-18DAA3EF3908}" srcOrd="0" destOrd="0" presId="urn:microsoft.com/office/officeart/2005/8/layout/vList2"/>
    <dgm:cxn modelId="{783F09B2-467B-4FD0-A171-F4ABE0C36582}" type="presParOf" srcId="{03902BFC-C005-424D-9E1F-18DAA3EF3908}" destId="{084EEC67-F0E9-4E90-85DE-3786176FBB4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5E158F8-4B0E-42A2-8E98-1A0AD7F6C6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7530E80-11DC-4BCD-8D6B-8A203CE090F0}">
      <dgm:prSet/>
      <dgm:spPr/>
      <dgm:t>
        <a:bodyPr/>
        <a:lstStyle/>
        <a:p>
          <a:pPr algn="ctr"/>
          <a:r>
            <a:rPr lang="en-US" b="1" dirty="0"/>
            <a:t>Final Customer can See in Front Screen</a:t>
          </a:r>
          <a:endParaRPr lang="en-IN" b="1" dirty="0"/>
        </a:p>
      </dgm:t>
    </dgm:pt>
    <dgm:pt modelId="{1A79D526-1B45-4EDC-99A8-C79CF17695F3}" type="parTrans" cxnId="{4E07C919-F9B8-43AD-AB67-14C51FAC63A9}">
      <dgm:prSet/>
      <dgm:spPr/>
      <dgm:t>
        <a:bodyPr/>
        <a:lstStyle/>
        <a:p>
          <a:endParaRPr lang="en-IN"/>
        </a:p>
      </dgm:t>
    </dgm:pt>
    <dgm:pt modelId="{E0368BB8-F677-47B4-9A6D-4184932C925F}" type="sibTrans" cxnId="{4E07C919-F9B8-43AD-AB67-14C51FAC63A9}">
      <dgm:prSet/>
      <dgm:spPr/>
      <dgm:t>
        <a:bodyPr/>
        <a:lstStyle/>
        <a:p>
          <a:endParaRPr lang="en-IN"/>
        </a:p>
      </dgm:t>
    </dgm:pt>
    <dgm:pt modelId="{452678DD-CD20-4019-92B5-8C012D09DFCB}" type="pres">
      <dgm:prSet presAssocID="{D5E158F8-4B0E-42A2-8E98-1A0AD7F6C6B3}" presName="linear" presStyleCnt="0">
        <dgm:presLayoutVars>
          <dgm:animLvl val="lvl"/>
          <dgm:resizeHandles val="exact"/>
        </dgm:presLayoutVars>
      </dgm:prSet>
      <dgm:spPr/>
    </dgm:pt>
    <dgm:pt modelId="{1F229DD5-D25F-41A7-B901-963B6C7B7523}" type="pres">
      <dgm:prSet presAssocID="{57530E80-11DC-4BCD-8D6B-8A203CE090F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E07C919-F9B8-43AD-AB67-14C51FAC63A9}" srcId="{D5E158F8-4B0E-42A2-8E98-1A0AD7F6C6B3}" destId="{57530E80-11DC-4BCD-8D6B-8A203CE090F0}" srcOrd="0" destOrd="0" parTransId="{1A79D526-1B45-4EDC-99A8-C79CF17695F3}" sibTransId="{E0368BB8-F677-47B4-9A6D-4184932C925F}"/>
    <dgm:cxn modelId="{E1A1B740-BEEE-4D4E-9ED2-5D791F6E57C0}" type="presOf" srcId="{D5E158F8-4B0E-42A2-8E98-1A0AD7F6C6B3}" destId="{452678DD-CD20-4019-92B5-8C012D09DFCB}" srcOrd="0" destOrd="0" presId="urn:microsoft.com/office/officeart/2005/8/layout/vList2"/>
    <dgm:cxn modelId="{37E5E6AB-7A27-4491-A42F-0FC129D5C014}" type="presOf" srcId="{57530E80-11DC-4BCD-8D6B-8A203CE090F0}" destId="{1F229DD5-D25F-41A7-B901-963B6C7B7523}" srcOrd="0" destOrd="0" presId="urn:microsoft.com/office/officeart/2005/8/layout/vList2"/>
    <dgm:cxn modelId="{46AB2937-A6DC-43C9-9FEE-1156EF84285A}" type="presParOf" srcId="{452678DD-CD20-4019-92B5-8C012D09DFCB}" destId="{1F229DD5-D25F-41A7-B901-963B6C7B75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8EC9D-3742-4580-9D3A-B47F5184CC42}">
      <dsp:nvSpPr>
        <dsp:cNvPr id="0" name=""/>
        <dsp:cNvSpPr/>
      </dsp:nvSpPr>
      <dsp:spPr>
        <a:xfrm>
          <a:off x="0" y="9795"/>
          <a:ext cx="3165369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Customer Choose Cloths</a:t>
          </a:r>
          <a:endParaRPr lang="en-IN" sz="2000" b="1" kern="1200" dirty="0"/>
        </a:p>
      </dsp:txBody>
      <dsp:txXfrm>
        <a:off x="23417" y="33212"/>
        <a:ext cx="3118535" cy="432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D87C3-E13D-4092-A9B1-BFE9F443C223}">
      <dsp:nvSpPr>
        <dsp:cNvPr id="0" name=""/>
        <dsp:cNvSpPr/>
      </dsp:nvSpPr>
      <dsp:spPr>
        <a:xfrm>
          <a:off x="0" y="7373"/>
          <a:ext cx="3345901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Arrange Changing Desk </a:t>
          </a:r>
          <a:endParaRPr lang="en-IN" sz="2500" b="1" kern="1200" dirty="0"/>
        </a:p>
      </dsp:txBody>
      <dsp:txXfrm>
        <a:off x="29271" y="36644"/>
        <a:ext cx="3287359" cy="5410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E57F7-C8BB-4402-B8D3-95A9CD4FBD31}">
      <dsp:nvSpPr>
        <dsp:cNvPr id="0" name=""/>
        <dsp:cNvSpPr/>
      </dsp:nvSpPr>
      <dsp:spPr>
        <a:xfrm>
          <a:off x="0" y="1930"/>
          <a:ext cx="3046446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Enter Cloth Code</a:t>
          </a:r>
          <a:endParaRPr lang="en-IN" sz="2500" b="1" kern="1200" dirty="0"/>
        </a:p>
      </dsp:txBody>
      <dsp:txXfrm>
        <a:off x="29271" y="31201"/>
        <a:ext cx="2987904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2FA78-C76F-419A-B546-124BDEC865A7}">
      <dsp:nvSpPr>
        <dsp:cNvPr id="0" name=""/>
        <dsp:cNvSpPr/>
      </dsp:nvSpPr>
      <dsp:spPr>
        <a:xfrm>
          <a:off x="0" y="38338"/>
          <a:ext cx="3127149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Cloths Size Recognition</a:t>
          </a:r>
          <a:endParaRPr lang="en-IN" sz="2300" b="1" kern="1200" dirty="0"/>
        </a:p>
      </dsp:txBody>
      <dsp:txXfrm>
        <a:off x="26930" y="65268"/>
        <a:ext cx="3073289" cy="497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8CAF1A-A5A9-4063-8E73-24D878731164}">
      <dsp:nvSpPr>
        <dsp:cNvPr id="0" name=""/>
        <dsp:cNvSpPr/>
      </dsp:nvSpPr>
      <dsp:spPr>
        <a:xfrm>
          <a:off x="0" y="9449"/>
          <a:ext cx="2793303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Body Recognize </a:t>
          </a:r>
          <a:endParaRPr lang="en-IN" sz="2800" b="1" kern="1200" dirty="0"/>
        </a:p>
      </dsp:txBody>
      <dsp:txXfrm>
        <a:off x="32784" y="42233"/>
        <a:ext cx="2727735" cy="606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EEC67-F0E9-4E90-85DE-3786176FBB4A}">
      <dsp:nvSpPr>
        <dsp:cNvPr id="0" name=""/>
        <dsp:cNvSpPr/>
      </dsp:nvSpPr>
      <dsp:spPr>
        <a:xfrm>
          <a:off x="0" y="0"/>
          <a:ext cx="2793303" cy="6052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Fit and manage Selected Cloth</a:t>
          </a:r>
          <a:endParaRPr lang="en-IN" sz="1800" b="1" kern="1200" dirty="0"/>
        </a:p>
      </dsp:txBody>
      <dsp:txXfrm>
        <a:off x="29546" y="29546"/>
        <a:ext cx="2734211" cy="5461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29DD5-D25F-41A7-B901-963B6C7B7523}">
      <dsp:nvSpPr>
        <dsp:cNvPr id="0" name=""/>
        <dsp:cNvSpPr/>
      </dsp:nvSpPr>
      <dsp:spPr>
        <a:xfrm>
          <a:off x="0" y="17430"/>
          <a:ext cx="350695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Final Customer can See in Front Screen</a:t>
          </a:r>
          <a:endParaRPr lang="en-IN" sz="1900" b="1" kern="1200" dirty="0"/>
        </a:p>
      </dsp:txBody>
      <dsp:txXfrm>
        <a:off x="36896" y="54326"/>
        <a:ext cx="3433161" cy="682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F1044-371B-4EDC-B7AA-EC3CDAC5318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EF493-E066-4CAB-BEAE-83188C666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7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EF493-E066-4CAB-BEAE-83188C6662B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920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EF493-E066-4CAB-BEAE-83188C6662B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6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749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2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33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9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67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89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86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35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22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90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166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596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531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39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989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33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51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D10FCD-28C8-45F1-AF61-663A0447C8E9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ADEF73-0635-43EE-886E-31F64511CC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70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9" Type="http://schemas.openxmlformats.org/officeDocument/2006/relationships/image" Target="../media/image5.png"/><Relationship Id="rId21" Type="http://schemas.openxmlformats.org/officeDocument/2006/relationships/diagramColors" Target="../diagrams/colors4.xml"/><Relationship Id="rId34" Type="http://schemas.openxmlformats.org/officeDocument/2006/relationships/diagramLayout" Target="../diagrams/layout7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33" Type="http://schemas.openxmlformats.org/officeDocument/2006/relationships/diagramData" Target="../diagrams/data7.xml"/><Relationship Id="rId38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29" Type="http://schemas.openxmlformats.org/officeDocument/2006/relationships/diagramLayout" Target="../diagrams/layout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32" Type="http://schemas.microsoft.com/office/2007/relationships/diagramDrawing" Target="../diagrams/drawing6.xml"/><Relationship Id="rId37" Type="http://schemas.microsoft.com/office/2007/relationships/diagramDrawing" Target="../diagrams/drawing7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diagramData" Target="../diagrams/data6.xml"/><Relationship Id="rId36" Type="http://schemas.openxmlformats.org/officeDocument/2006/relationships/diagramColors" Target="../diagrams/colors7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31" Type="http://schemas.openxmlformats.org/officeDocument/2006/relationships/diagramColors" Target="../diagrams/colors6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Relationship Id="rId30" Type="http://schemas.openxmlformats.org/officeDocument/2006/relationships/diagramQuickStyle" Target="../diagrams/quickStyle6.xml"/><Relationship Id="rId35" Type="http://schemas.openxmlformats.org/officeDocument/2006/relationships/diagramQuickStyle" Target="../diagrams/quickStyle7.xml"/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20ED7C-37AA-47F1-0F0C-A5BB82AC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65" y="514764"/>
            <a:ext cx="9850119" cy="117856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Century Schoolbook"/>
              </a:rPr>
              <a:t>Let's Do Something New</a:t>
            </a:r>
            <a:br>
              <a:rPr lang="en-US" sz="2400" b="1" u="sng" dirty="0">
                <a:solidFill>
                  <a:schemeClr val="accent4"/>
                </a:solidFill>
                <a:latin typeface="Century Schoolbook"/>
              </a:rPr>
            </a:br>
            <a:r>
              <a:rPr lang="en-US" sz="4000" b="1" u="sng" dirty="0">
                <a:solidFill>
                  <a:srgbClr val="FFFF00"/>
                </a:solidFill>
                <a:latin typeface="Century Schoolbook"/>
              </a:rPr>
              <a:t>Style </a:t>
            </a:r>
            <a:r>
              <a:rPr lang="en-US" sz="4000" b="1" u="sng" dirty="0">
                <a:latin typeface="Century Schoolbook"/>
              </a:rPr>
              <a:t>Secure</a:t>
            </a:r>
            <a:r>
              <a:rPr lang="en-US" sz="4000" b="1" u="sng" dirty="0">
                <a:solidFill>
                  <a:srgbClr val="FFFF00"/>
                </a:solidFill>
                <a:latin typeface="Century Schoolbook"/>
              </a:rPr>
              <a:t> Zone</a:t>
            </a:r>
            <a:endParaRPr lang="en-IN" sz="4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1E0E9-B2DB-C129-76E0-CC02006D97FA}"/>
              </a:ext>
            </a:extLst>
          </p:cNvPr>
          <p:cNvSpPr txBox="1"/>
          <p:nvPr/>
        </p:nvSpPr>
        <p:spPr>
          <a:xfrm>
            <a:off x="5751513" y="2843851"/>
            <a:ext cx="61844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800" b="1" dirty="0"/>
              <a:t> </a:t>
            </a:r>
            <a:r>
              <a:rPr lang="en-US" sz="2800" b="1" u="sng" dirty="0">
                <a:solidFill>
                  <a:srgbClr val="FF0000"/>
                </a:solidFill>
              </a:rPr>
              <a:t>Presented By: 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sz="2800" b="1" u="sng" dirty="0"/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800" b="1" i="1" dirty="0">
                <a:latin typeface="Aldhabi"/>
                <a:cs typeface="Segoe UI"/>
              </a:rPr>
              <a:t>👉 </a:t>
            </a:r>
            <a:r>
              <a:rPr lang="en-US" sz="2800" b="1" dirty="0"/>
              <a:t>Prakash Mali         </a:t>
            </a:r>
            <a:r>
              <a:rPr lang="en-US" sz="2800" dirty="0"/>
              <a:t>(</a:t>
            </a:r>
            <a:r>
              <a:rPr lang="en-US" sz="2800" dirty="0">
                <a:latin typeface="DM Sans Merlin"/>
              </a:rPr>
              <a:t>2203031050832</a:t>
            </a:r>
            <a:r>
              <a:rPr lang="en-US" sz="2800" dirty="0"/>
              <a:t>)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800" b="1" i="1" dirty="0">
                <a:latin typeface="Aldhabi"/>
                <a:cs typeface="Segoe UI"/>
              </a:rPr>
              <a:t>👉 </a:t>
            </a:r>
            <a:r>
              <a:rPr lang="en-US" sz="2800" b="1" dirty="0"/>
              <a:t>Khushal </a:t>
            </a:r>
            <a:r>
              <a:rPr lang="en-US" sz="2800" b="1" dirty="0" err="1"/>
              <a:t>Shivade</a:t>
            </a:r>
            <a:r>
              <a:rPr lang="en-US" sz="2800" b="1" dirty="0"/>
              <a:t>  </a:t>
            </a:r>
            <a:r>
              <a:rPr lang="en-US" sz="2800" dirty="0"/>
              <a:t>(</a:t>
            </a:r>
            <a:r>
              <a:rPr lang="en-US" sz="2800" dirty="0">
                <a:latin typeface="DM Sans Merlin"/>
              </a:rPr>
              <a:t>2203031050625)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800" b="1" i="1" dirty="0">
                <a:latin typeface="Aldhabi"/>
                <a:cs typeface="Segoe UI"/>
              </a:rPr>
              <a:t>👉 </a:t>
            </a:r>
            <a:r>
              <a:rPr lang="en-US" sz="2800" b="1" dirty="0"/>
              <a:t>Krishna </a:t>
            </a:r>
            <a:r>
              <a:rPr lang="en-US" sz="2800" b="1" dirty="0" err="1"/>
              <a:t>Gutte</a:t>
            </a:r>
            <a:r>
              <a:rPr lang="en-US" sz="2800" b="1" dirty="0"/>
              <a:t>       </a:t>
            </a:r>
            <a:r>
              <a:rPr lang="en-US" sz="2800" dirty="0"/>
              <a:t>(</a:t>
            </a:r>
            <a:r>
              <a:rPr lang="en-US" sz="2800" dirty="0">
                <a:latin typeface="DM Sans Merlin"/>
              </a:rPr>
              <a:t>2203031050218)</a:t>
            </a:r>
          </a:p>
          <a:p>
            <a:pPr>
              <a:defRPr/>
            </a:pPr>
            <a:r>
              <a:rPr lang="en-US" sz="2800" b="1" i="1" dirty="0">
                <a:latin typeface="Aldhabi"/>
                <a:cs typeface="Segoe UI"/>
              </a:rPr>
              <a:t>👉 </a:t>
            </a:r>
            <a:r>
              <a:rPr lang="en-US" sz="2800" b="1" dirty="0"/>
              <a:t>Sanyam Jain         </a:t>
            </a:r>
            <a:r>
              <a:rPr lang="en-US" sz="2800" dirty="0"/>
              <a:t>(</a:t>
            </a:r>
            <a:r>
              <a:rPr lang="en-US" sz="2800" dirty="0">
                <a:latin typeface="DM Sans Merlin"/>
              </a:rPr>
              <a:t>2203031050853</a:t>
            </a:r>
            <a:r>
              <a:rPr lang="en-US" sz="2800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6C73CC-AB29-BA82-D7BF-2201AB935500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1026" name="Picture 2" descr="Cartoon with meeting illustration business discussion scene office meeting  cartoon team collabora | Premium AI-generated image">
            <a:extLst>
              <a:ext uri="{FF2B5EF4-FFF2-40B4-BE49-F238E27FC236}">
                <a16:creationId xmlns:a16="http://schemas.microsoft.com/office/drawing/2014/main" id="{089DDC45-77CF-40E3-1A52-62D8F0D5C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2" y="2595097"/>
            <a:ext cx="4351938" cy="3450103"/>
          </a:xfrm>
          <a:prstGeom prst="round2DiagRect">
            <a:avLst>
              <a:gd name="adj1" fmla="val 16667"/>
              <a:gd name="adj2" fmla="val 42926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Training &amp; Placement Cell">
            <a:extLst>
              <a:ext uri="{FF2B5EF4-FFF2-40B4-BE49-F238E27FC236}">
                <a16:creationId xmlns:a16="http://schemas.microsoft.com/office/drawing/2014/main" id="{B58DC255-921A-012B-421F-CA762919D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184574" y="42633"/>
            <a:ext cx="2007426" cy="81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E4AE20-A868-3F1E-B39C-973BC48AD85C}"/>
              </a:ext>
            </a:extLst>
          </p:cNvPr>
          <p:cNvSpPr txBox="1"/>
          <p:nvPr/>
        </p:nvSpPr>
        <p:spPr>
          <a:xfrm>
            <a:off x="3907473" y="1599746"/>
            <a:ext cx="4036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Your Security Our Priority</a:t>
            </a:r>
          </a:p>
        </p:txBody>
      </p:sp>
      <p:pic>
        <p:nvPicPr>
          <p:cNvPr id="1032" name="Picture 8" descr="7,100+ Red Arrow Stock Videos and Royalty-Free Footage - iStock | Red arrow  vector, Red arrow up, Red arrow down">
            <a:extLst>
              <a:ext uri="{FF2B5EF4-FFF2-40B4-BE49-F238E27FC236}">
                <a16:creationId xmlns:a16="http://schemas.microsoft.com/office/drawing/2014/main" id="{0A8231F8-520D-C309-FC25-7C11DA0FF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240" y="1762417"/>
            <a:ext cx="388747" cy="2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7,100+ Red Arrow Stock Videos and Royalty-Free Footage - iStock | Red arrow  vector, Red arrow up, Red arrow down">
            <a:extLst>
              <a:ext uri="{FF2B5EF4-FFF2-40B4-BE49-F238E27FC236}">
                <a16:creationId xmlns:a16="http://schemas.microsoft.com/office/drawing/2014/main" id="{C1B12740-7298-4402-DE23-83FC93846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541268" y="1762417"/>
            <a:ext cx="388747" cy="2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B8E938-59FF-F986-85B8-87D2A494B665}"/>
              </a:ext>
            </a:extLst>
          </p:cNvPr>
          <p:cNvSpPr txBox="1"/>
          <p:nvPr/>
        </p:nvSpPr>
        <p:spPr>
          <a:xfrm>
            <a:off x="4893830" y="5725179"/>
            <a:ext cx="6144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Project Guide: </a:t>
            </a:r>
            <a:r>
              <a:rPr lang="en-US" sz="2800" b="1" dirty="0"/>
              <a:t>Prof. Shubham Upadhyay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58865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04EB-BDB2-E7A0-4F03-51630E27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b="1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Abstract of  project</a:t>
            </a:r>
            <a:r>
              <a:rPr lang="en-US" sz="5400" b="1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</a:t>
            </a:r>
            <a:endParaRPr lang="en-IN" sz="5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FBD65-9998-C8E8-CF8B-AB7C37E2D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>
            <a:normAutofit/>
          </a:bodyPr>
          <a:lstStyle/>
          <a:p>
            <a:pPr marL="457200" indent="-457200">
              <a:buFont typeface="Wingdings,Sans-Serif"/>
              <a:buChar char="à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irtual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hanging room that allows users to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try on clothes Virtually</a:t>
            </a:r>
            <a:endParaRPr lang="en-US" sz="2400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Wingdings,Sans-Serif"/>
              <a:buChar char="à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Learning for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 processing,</a:t>
            </a:r>
            <a:r>
              <a:rPr lang="en-IN" sz="2400" b="1" i="0" dirty="0">
                <a:solidFill>
                  <a:srgbClr val="FAFAF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augmented reality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AR) for real-time visualization, and possibly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3D modelling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garment representation</a:t>
            </a:r>
          </a:p>
          <a:p>
            <a:pPr marL="457200" indent="-457200">
              <a:buFont typeface="Wingdings,Sans-Serif"/>
              <a:buChar char="à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better visualize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 and style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it aims to decrease the rate of returns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marL="457200" indent="-457200">
              <a:buFont typeface="Wingdings,Sans-Serif"/>
              <a:buChar char="à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Aligns with the growing trend of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digital shopping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the use of AR in retail.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7BB557-823B-B3E7-6E89-264DBDFFB5A3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5" name="Picture 2" descr="Training &amp; Placement Cell">
            <a:extLst>
              <a:ext uri="{FF2B5EF4-FFF2-40B4-BE49-F238E27FC236}">
                <a16:creationId xmlns:a16="http://schemas.microsoft.com/office/drawing/2014/main" id="{DCEBBEE8-112B-34EF-FBB2-7ACBCA3BC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385810" y="42633"/>
            <a:ext cx="1806190" cy="72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70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23F4-12EC-3F98-D685-5996769C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589736"/>
            <a:ext cx="10131425" cy="1456267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Motivation for project</a:t>
            </a:r>
            <a:endParaRPr lang="en-IN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7C91F-AAD7-2D94-1436-659664D7B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Security of Women and men also</a:t>
            </a:r>
          </a:p>
          <a:p>
            <a:pPr marL="457200" indent="-457200">
              <a:buFont typeface="Wingdings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Ex. In Mumbai, one of Shop owner’s Employer does Cheat in the changing room</a:t>
            </a:r>
          </a:p>
          <a:p>
            <a:pPr marL="457200" indent="-457200">
              <a:buFont typeface="Wingdings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 attaches the Camera and makes MMS and Upload on the Internet</a:t>
            </a:r>
          </a:p>
          <a:p>
            <a:pPr marL="457200" indent="-457200">
              <a:buFont typeface="Wingdings"/>
              <a:buChar char="ü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 reduce Changing room  lines of Customers</a:t>
            </a:r>
          </a:p>
          <a:p>
            <a:pPr marL="457200" indent="-457200">
              <a:buFont typeface="Wingdings"/>
              <a:buChar char="ü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Example: -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FC102-E24F-974E-4AE0-F50F5AC24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23" y="5205398"/>
            <a:ext cx="6460615" cy="9594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BEAB0F-1DE0-034A-BABD-AB8DBEE87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898" y="5693981"/>
            <a:ext cx="5896179" cy="9418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D47E71-19AC-3BDE-2D5E-415DC946C5E3}"/>
              </a:ext>
            </a:extLst>
          </p:cNvPr>
          <p:cNvSpPr/>
          <p:nvPr/>
        </p:nvSpPr>
        <p:spPr>
          <a:xfrm>
            <a:off x="10845618" y="6527984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2050" name="Picture 2" descr="Premium Vector | Sexual harassment of women, stranger offensive hands on  lonely women, stop rape, stop harassment.">
            <a:extLst>
              <a:ext uri="{FF2B5EF4-FFF2-40B4-BE49-F238E27FC236}">
                <a16:creationId xmlns:a16="http://schemas.microsoft.com/office/drawing/2014/main" id="{65A82E67-2AB2-3BCD-D188-692A34626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42" y="374850"/>
            <a:ext cx="2246037" cy="16711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ijayawada man arrested for harassing relative">
            <a:extLst>
              <a:ext uri="{FF2B5EF4-FFF2-40B4-BE49-F238E27FC236}">
                <a16:creationId xmlns:a16="http://schemas.microsoft.com/office/drawing/2014/main" id="{A8A5E9AF-37C5-BC2D-78EB-EEF5986D7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061" y="4181775"/>
            <a:ext cx="1937886" cy="14199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raining &amp; Placement Cell">
            <a:extLst>
              <a:ext uri="{FF2B5EF4-FFF2-40B4-BE49-F238E27FC236}">
                <a16:creationId xmlns:a16="http://schemas.microsoft.com/office/drawing/2014/main" id="{2549A4CB-193B-036C-21CA-442D96289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260036" y="42633"/>
            <a:ext cx="1931963" cy="78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99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6FF5-0E38-8AE7-B788-3EA0B99C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F4F4F5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</a:t>
            </a:r>
            <a:r>
              <a:rPr lang="en-IN" b="1" i="0" dirty="0">
                <a:solidFill>
                  <a:srgbClr val="F4F4F5"/>
                </a:solidFill>
                <a:effectLst/>
                <a:latin typeface="DM Sans Merlin"/>
              </a:rPr>
              <a:t> Use in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8B1CA-7E29-EF1B-87FB-533A52C2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88" y="2065867"/>
            <a:ext cx="10131425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1. </a:t>
            </a:r>
            <a:r>
              <a:rPr lang="en-US" sz="2200" b="1" dirty="0"/>
              <a:t>Data Collection: </a:t>
            </a:r>
            <a:r>
              <a:rPr lang="en-US" sz="2000" dirty="0"/>
              <a:t>Gather diverse datasets of clothing images, body scans, and user profiles.</a:t>
            </a:r>
          </a:p>
          <a:p>
            <a:pPr marL="0" indent="0">
              <a:buNone/>
            </a:pPr>
            <a:r>
              <a:rPr lang="en-US" sz="2000" b="1" dirty="0"/>
              <a:t>2. </a:t>
            </a:r>
            <a:r>
              <a:rPr lang="en-US" sz="2200" b="1" dirty="0"/>
              <a:t>Image Processing: </a:t>
            </a:r>
            <a:r>
              <a:rPr lang="en-US" sz="2000" dirty="0"/>
              <a:t>Machine learning algorithms analyze and segment clothing images for accurate visual representation.</a:t>
            </a:r>
          </a:p>
          <a:p>
            <a:pPr marL="0" indent="0">
              <a:buNone/>
            </a:pPr>
            <a:r>
              <a:rPr lang="en-US" sz="2000" b="1" dirty="0"/>
              <a:t>3. </a:t>
            </a:r>
            <a:r>
              <a:rPr lang="en-US" sz="2200" b="1" dirty="0"/>
              <a:t>3D Modeling: </a:t>
            </a:r>
            <a:r>
              <a:rPr lang="en-US" sz="2000" dirty="0"/>
              <a:t>Create 3D digital garments that mimic real fabric behavior and fit.</a:t>
            </a:r>
          </a:p>
          <a:p>
            <a:pPr marL="0" indent="0">
              <a:buNone/>
            </a:pPr>
            <a:r>
              <a:rPr lang="en-US" sz="2000" b="1" dirty="0"/>
              <a:t>4. </a:t>
            </a:r>
            <a:r>
              <a:rPr lang="en-US" sz="2200" b="1" dirty="0"/>
              <a:t>AR Integration: </a:t>
            </a:r>
            <a:r>
              <a:rPr lang="en-US" sz="2000" dirty="0"/>
              <a:t>Develop AR application to overlay clothing on a user's real-time image via camera.</a:t>
            </a:r>
          </a:p>
          <a:p>
            <a:pPr marL="0" indent="0">
              <a:buNone/>
            </a:pPr>
            <a:r>
              <a:rPr lang="en-US" sz="2000" b="1" dirty="0"/>
              <a:t>5. </a:t>
            </a:r>
            <a:r>
              <a:rPr lang="en-US" sz="2200" b="1" dirty="0"/>
              <a:t>User Feedback: </a:t>
            </a:r>
            <a:r>
              <a:rPr lang="en-US" sz="2000" dirty="0"/>
              <a:t>Incorporate user input to refine fit and style recommendations.</a:t>
            </a:r>
          </a:p>
          <a:p>
            <a:pPr marL="0" indent="0">
              <a:buNone/>
            </a:pPr>
            <a:r>
              <a:rPr lang="en-US" sz="2000" b="1" dirty="0"/>
              <a:t>6. </a:t>
            </a:r>
            <a:r>
              <a:rPr lang="en-US" sz="2200" b="1" dirty="0"/>
              <a:t>Deployment: </a:t>
            </a:r>
            <a:r>
              <a:rPr lang="en-US" sz="2000" dirty="0"/>
              <a:t>Launch the app for users to virtually try on clothes, thereby reducing return rates.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2C7D43-22EA-9944-9326-60BF7E14022A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3074" name="Picture 2" descr="Comprehending Research Methodology with Insight of All the Stages |  Thoughtful Minds">
            <a:extLst>
              <a:ext uri="{FF2B5EF4-FFF2-40B4-BE49-F238E27FC236}">
                <a16:creationId xmlns:a16="http://schemas.microsoft.com/office/drawing/2014/main" id="{53176CC7-01A8-4990-F1F7-7DC344D0C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642" y="5472462"/>
            <a:ext cx="2178243" cy="12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edical Animation Market Size, Share Analysis">
            <a:extLst>
              <a:ext uri="{FF2B5EF4-FFF2-40B4-BE49-F238E27FC236}">
                <a16:creationId xmlns:a16="http://schemas.microsoft.com/office/drawing/2014/main" id="{C1DAF834-ADE4-BEEF-A64C-F71221B26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72462"/>
            <a:ext cx="2178429" cy="1262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raining &amp; Placement Cell">
            <a:extLst>
              <a:ext uri="{FF2B5EF4-FFF2-40B4-BE49-F238E27FC236}">
                <a16:creationId xmlns:a16="http://schemas.microsoft.com/office/drawing/2014/main" id="{9A93AEA6-D74E-336B-B992-8DEBD3132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335500" y="42633"/>
            <a:ext cx="1856499" cy="74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65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A8EDF-6058-967C-4F10-0E6CBB6FDE41}"/>
              </a:ext>
            </a:extLst>
          </p:cNvPr>
          <p:cNvSpPr txBox="1"/>
          <p:nvPr/>
        </p:nvSpPr>
        <p:spPr>
          <a:xfrm>
            <a:off x="1323263" y="610512"/>
            <a:ext cx="75936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en-US" sz="3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Flow of project Flow of Execution </a:t>
            </a:r>
            <a:endParaRPr lang="en-US" sz="3600" b="1" dirty="0">
              <a:solidFill>
                <a:schemeClr val="accent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49" name="Diagram 48">
            <a:extLst>
              <a:ext uri="{FF2B5EF4-FFF2-40B4-BE49-F238E27FC236}">
                <a16:creationId xmlns:a16="http://schemas.microsoft.com/office/drawing/2014/main" id="{9DDFC775-8E5A-7F6C-5D93-67E0BF55E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964678"/>
              </p:ext>
            </p:extLst>
          </p:nvPr>
        </p:nvGraphicFramePr>
        <p:xfrm>
          <a:off x="912085" y="1889911"/>
          <a:ext cx="3165369" cy="489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DA2AA0-01B1-50B4-AF77-FD6E796ADED9}"/>
              </a:ext>
            </a:extLst>
          </p:cNvPr>
          <p:cNvCxnSpPr>
            <a:cxnSpLocks/>
          </p:cNvCxnSpPr>
          <p:nvPr/>
        </p:nvCxnSpPr>
        <p:spPr>
          <a:xfrm flipH="1">
            <a:off x="2494769" y="2379407"/>
            <a:ext cx="1" cy="804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8D80D25A-1C57-55C3-820D-2AE44A2FA9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3790935"/>
              </p:ext>
            </p:extLst>
          </p:nvPr>
        </p:nvGraphicFramePr>
        <p:xfrm>
          <a:off x="821818" y="3059375"/>
          <a:ext cx="3345901" cy="614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8" name="Diagram 47">
            <a:extLst>
              <a:ext uri="{FF2B5EF4-FFF2-40B4-BE49-F238E27FC236}">
                <a16:creationId xmlns:a16="http://schemas.microsoft.com/office/drawing/2014/main" id="{41098AE9-A5E2-EF8B-79E6-2E23E78A0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0144128"/>
              </p:ext>
            </p:extLst>
          </p:nvPr>
        </p:nvGraphicFramePr>
        <p:xfrm>
          <a:off x="971546" y="4181940"/>
          <a:ext cx="3046446" cy="603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357ABE9B-1736-0970-F95F-68EE0C84F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547432"/>
              </p:ext>
            </p:extLst>
          </p:nvPr>
        </p:nvGraphicFramePr>
        <p:xfrm>
          <a:off x="4532425" y="5586941"/>
          <a:ext cx="3127149" cy="6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51" name="Diagram 50">
            <a:extLst>
              <a:ext uri="{FF2B5EF4-FFF2-40B4-BE49-F238E27FC236}">
                <a16:creationId xmlns:a16="http://schemas.microsoft.com/office/drawing/2014/main" id="{1EED8323-CFE2-69B8-EB1A-D4EA39F982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940643"/>
              </p:ext>
            </p:extLst>
          </p:nvPr>
        </p:nvGraphicFramePr>
        <p:xfrm>
          <a:off x="8077012" y="4343186"/>
          <a:ext cx="2793303" cy="690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52" name="Diagram 51">
            <a:extLst>
              <a:ext uri="{FF2B5EF4-FFF2-40B4-BE49-F238E27FC236}">
                <a16:creationId xmlns:a16="http://schemas.microsoft.com/office/drawing/2014/main" id="{8E731FB8-6577-BE29-E38E-19FB5D9886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062265"/>
              </p:ext>
            </p:extLst>
          </p:nvPr>
        </p:nvGraphicFramePr>
        <p:xfrm>
          <a:off x="8077012" y="3235354"/>
          <a:ext cx="2793303" cy="605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graphicFrame>
        <p:nvGraphicFramePr>
          <p:cNvPr id="53" name="Diagram 52">
            <a:extLst>
              <a:ext uri="{FF2B5EF4-FFF2-40B4-BE49-F238E27FC236}">
                <a16:creationId xmlns:a16="http://schemas.microsoft.com/office/drawing/2014/main" id="{FDB636EE-4926-6EE2-0A01-AC1D991CCD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2125268"/>
              </p:ext>
            </p:extLst>
          </p:nvPr>
        </p:nvGraphicFramePr>
        <p:xfrm>
          <a:off x="7772962" y="1704093"/>
          <a:ext cx="3506953" cy="790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624729-EF89-ED09-5BFB-986C84333547}"/>
              </a:ext>
            </a:extLst>
          </p:cNvPr>
          <p:cNvCxnSpPr>
            <a:cxnSpLocks/>
          </p:cNvCxnSpPr>
          <p:nvPr/>
        </p:nvCxnSpPr>
        <p:spPr>
          <a:xfrm>
            <a:off x="2494769" y="3673748"/>
            <a:ext cx="0" cy="679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129B33-5065-D5D9-9678-0092724BB899}"/>
              </a:ext>
            </a:extLst>
          </p:cNvPr>
          <p:cNvCxnSpPr>
            <a:cxnSpLocks/>
          </p:cNvCxnSpPr>
          <p:nvPr/>
        </p:nvCxnSpPr>
        <p:spPr>
          <a:xfrm flipV="1">
            <a:off x="9473664" y="3841193"/>
            <a:ext cx="0" cy="501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47F4BC-0BE9-2196-9591-CE3170FC1D53}"/>
              </a:ext>
            </a:extLst>
          </p:cNvPr>
          <p:cNvCxnSpPr>
            <a:cxnSpLocks/>
          </p:cNvCxnSpPr>
          <p:nvPr/>
        </p:nvCxnSpPr>
        <p:spPr>
          <a:xfrm>
            <a:off x="2494769" y="4785425"/>
            <a:ext cx="2037656" cy="1115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64BD0E-4810-1446-86CB-28C107144FF5}"/>
              </a:ext>
            </a:extLst>
          </p:cNvPr>
          <p:cNvCxnSpPr>
            <a:cxnSpLocks/>
          </p:cNvCxnSpPr>
          <p:nvPr/>
        </p:nvCxnSpPr>
        <p:spPr>
          <a:xfrm flipV="1">
            <a:off x="9526438" y="2517215"/>
            <a:ext cx="0" cy="718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5480A6-D4C8-09A7-DCC8-3E9FC78509D3}"/>
              </a:ext>
            </a:extLst>
          </p:cNvPr>
          <p:cNvCxnSpPr>
            <a:cxnSpLocks/>
          </p:cNvCxnSpPr>
          <p:nvPr/>
        </p:nvCxnSpPr>
        <p:spPr>
          <a:xfrm flipV="1">
            <a:off x="7659574" y="5033665"/>
            <a:ext cx="1814090" cy="867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 descr="Free Vector | Virtual fitting room abstract concept illustration">
            <a:extLst>
              <a:ext uri="{FF2B5EF4-FFF2-40B4-BE49-F238E27FC236}">
                <a16:creationId xmlns:a16="http://schemas.microsoft.com/office/drawing/2014/main" id="{1A07ECB0-6C48-BA25-8AB4-9BEB54AB3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3" r="9892"/>
          <a:stretch/>
        </p:blipFill>
        <p:spPr bwMode="auto">
          <a:xfrm>
            <a:off x="4992356" y="1704093"/>
            <a:ext cx="1970701" cy="3240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33DEF53-383F-9D0C-BC73-A85E9C818240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54" name="Picture 2" descr="Training &amp; Placement Cell">
            <a:extLst>
              <a:ext uri="{FF2B5EF4-FFF2-40B4-BE49-F238E27FC236}">
                <a16:creationId xmlns:a16="http://schemas.microsoft.com/office/drawing/2014/main" id="{BEB6A943-C6D9-3C8A-8B13-4C733D35D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234402" y="42633"/>
            <a:ext cx="1957598" cy="79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3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4AD7-F193-EC5B-877F-50E208C2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Innovative Research Module in project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CB61-1C35-0F38-7178-69B908184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Security of Woman </a:t>
            </a:r>
            <a:endParaRPr lang="en-US" sz="2800" dirty="0">
              <a:latin typeface="Abadi" panose="020B0604020104020204" pitchFamily="34" charset="0"/>
            </a:endParaRPr>
          </a:p>
          <a:p>
            <a:pPr marL="571500" indent="-571500">
              <a:buFont typeface="Arial"/>
              <a:buChar char="•"/>
            </a:pPr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Maintenance of Room </a:t>
            </a:r>
          </a:p>
          <a:p>
            <a:pPr marL="571500" indent="-571500">
              <a:buFont typeface="Arial"/>
              <a:buChar char="•"/>
            </a:pPr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Check Virtually Analyze Cloth Size and</a:t>
            </a:r>
          </a:p>
          <a:p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   Fitness of Clothes</a:t>
            </a:r>
          </a:p>
          <a:p>
            <a:pPr marL="571500" indent="-571500">
              <a:buFont typeface="Arial"/>
              <a:buChar char="•"/>
            </a:pPr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Also add an E-commerce Website to Check </a:t>
            </a:r>
          </a:p>
          <a:p>
            <a:pPr marL="571500" indent="-571500">
              <a:buFont typeface="Arial"/>
              <a:buChar char="•"/>
            </a:pPr>
            <a:r>
              <a:rPr lang="en-US" sz="2800" dirty="0">
                <a:latin typeface="Abadi" panose="020B0604020104020204" pitchFamily="34" charset="0"/>
                <a:ea typeface="+mn-lt"/>
                <a:cs typeface="+mn-lt"/>
              </a:rPr>
              <a:t>Reduces Retuning Policies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7067E-41AA-7FB8-C320-DB5F8F37C176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4098" name="Picture 2" descr="Graphic cartoon character of new innovation Vector Image">
            <a:extLst>
              <a:ext uri="{FF2B5EF4-FFF2-40B4-BE49-F238E27FC236}">
                <a16:creationId xmlns:a16="http://schemas.microsoft.com/office/drawing/2014/main" id="{16E7B2C5-803D-B692-9E92-C2AEC7216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0"/>
          <a:stretch/>
        </p:blipFill>
        <p:spPr bwMode="auto">
          <a:xfrm>
            <a:off x="8419421" y="2535503"/>
            <a:ext cx="3259498" cy="35677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raining &amp; Placement Cell">
            <a:extLst>
              <a:ext uri="{FF2B5EF4-FFF2-40B4-BE49-F238E27FC236}">
                <a16:creationId xmlns:a16="http://schemas.microsoft.com/office/drawing/2014/main" id="{778984A4-FD4E-B4A1-5F01-53682DB77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234882" y="42633"/>
            <a:ext cx="1957117" cy="79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52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93AD-D5B8-3857-FDA8-F3362F80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83" y="154558"/>
            <a:ext cx="10131425" cy="1456267"/>
          </a:xfrm>
        </p:spPr>
        <p:txBody>
          <a:bodyPr>
            <a:normAutofit/>
          </a:bodyPr>
          <a:lstStyle/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Screenshot of Project working model</a:t>
            </a:r>
            <a:endParaRPr lang="en-IN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E2AE0A-D13C-3892-64CC-56ECADD9A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372" y="4847951"/>
            <a:ext cx="1610776" cy="1651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81D50B-ED7D-4D22-60E0-56888BA03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584" y="3358919"/>
            <a:ext cx="1250271" cy="1563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E02132-D64B-B9C3-3EA1-F5641B149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508" y="3286759"/>
            <a:ext cx="1483377" cy="1455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AA66CA-B6CF-8409-F440-ABB6536E5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460" y="5028438"/>
            <a:ext cx="1243120" cy="15455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CF3DF0-15A1-74F8-18CA-42099A11AA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802" y="882691"/>
            <a:ext cx="1682829" cy="25242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32199C-9C1F-6CA0-04D2-5D5AF4B7FF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930" y="1378533"/>
            <a:ext cx="1370749" cy="1749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BC09B6-13DE-80F3-E713-E7AB662AB6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11" y="1169217"/>
            <a:ext cx="5095268" cy="54972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59058A1-3AD2-9A23-51F4-B16FE182C62F}"/>
              </a:ext>
            </a:extLst>
          </p:cNvPr>
          <p:cNvSpPr/>
          <p:nvPr/>
        </p:nvSpPr>
        <p:spPr>
          <a:xfrm>
            <a:off x="10757713" y="6457890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25" name="Picture 2" descr="Training &amp; Placement Cell">
            <a:extLst>
              <a:ext uri="{FF2B5EF4-FFF2-40B4-BE49-F238E27FC236}">
                <a16:creationId xmlns:a16="http://schemas.microsoft.com/office/drawing/2014/main" id="{2393E100-6C9D-795A-B366-9DF2EFC52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353040" y="42633"/>
            <a:ext cx="1838960" cy="74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F09E0B-CE00-016B-187A-2ACC1A3AC3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773" y="4025168"/>
            <a:ext cx="3420652" cy="2678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B06A56-0FF7-A9EC-CB0C-6A7D006BA9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73" y="1239588"/>
            <a:ext cx="3420652" cy="26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2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7A6CE-9024-BD2D-AB4D-03080B11E6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0942" y="142926"/>
            <a:ext cx="5673213" cy="2995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29F6D9-561C-1FFC-E4E3-CC2E99AA8E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90968" y="142925"/>
            <a:ext cx="5467227" cy="2995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13697-A434-6BC9-E8E4-1D37D935367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73090" y="3281783"/>
            <a:ext cx="5673213" cy="3432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8FB38-4010-B7B6-6B3A-C190CEA6811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096000" y="3281783"/>
            <a:ext cx="5673213" cy="343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19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15BE-8A8D-5FFD-C763-AE33CA62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8" y="105884"/>
            <a:ext cx="10131425" cy="747252"/>
          </a:xfrm>
        </p:spPr>
        <p:txBody>
          <a:bodyPr/>
          <a:lstStyle/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Paper For Project</a:t>
            </a:r>
            <a:endParaRPr lang="en-IN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F566695-859E-9FFD-82B3-8CB6EB028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398067"/>
              </p:ext>
            </p:extLst>
          </p:nvPr>
        </p:nvGraphicFramePr>
        <p:xfrm>
          <a:off x="373627" y="915384"/>
          <a:ext cx="11444746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335">
                  <a:extLst>
                    <a:ext uri="{9D8B030D-6E8A-4147-A177-3AD203B41FA5}">
                      <a16:colId xmlns:a16="http://schemas.microsoft.com/office/drawing/2014/main" val="1440270363"/>
                    </a:ext>
                  </a:extLst>
                </a:gridCol>
                <a:gridCol w="2424848">
                  <a:extLst>
                    <a:ext uri="{9D8B030D-6E8A-4147-A177-3AD203B41FA5}">
                      <a16:colId xmlns:a16="http://schemas.microsoft.com/office/drawing/2014/main" val="427552525"/>
                    </a:ext>
                  </a:extLst>
                </a:gridCol>
                <a:gridCol w="1347669">
                  <a:extLst>
                    <a:ext uri="{9D8B030D-6E8A-4147-A177-3AD203B41FA5}">
                      <a16:colId xmlns:a16="http://schemas.microsoft.com/office/drawing/2014/main" val="2135837481"/>
                    </a:ext>
                  </a:extLst>
                </a:gridCol>
                <a:gridCol w="1709513">
                  <a:extLst>
                    <a:ext uri="{9D8B030D-6E8A-4147-A177-3AD203B41FA5}">
                      <a16:colId xmlns:a16="http://schemas.microsoft.com/office/drawing/2014/main" val="1492176469"/>
                    </a:ext>
                  </a:extLst>
                </a:gridCol>
                <a:gridCol w="1528591">
                  <a:extLst>
                    <a:ext uri="{9D8B030D-6E8A-4147-A177-3AD203B41FA5}">
                      <a16:colId xmlns:a16="http://schemas.microsoft.com/office/drawing/2014/main" val="504189789"/>
                    </a:ext>
                  </a:extLst>
                </a:gridCol>
                <a:gridCol w="1994277">
                  <a:extLst>
                    <a:ext uri="{9D8B030D-6E8A-4147-A177-3AD203B41FA5}">
                      <a16:colId xmlns:a16="http://schemas.microsoft.com/office/drawing/2014/main" val="2192008069"/>
                    </a:ext>
                  </a:extLst>
                </a:gridCol>
                <a:gridCol w="1807513">
                  <a:extLst>
                    <a:ext uri="{9D8B030D-6E8A-4147-A177-3AD203B41FA5}">
                      <a16:colId xmlns:a16="http://schemas.microsoft.com/office/drawing/2014/main" val="2258037958"/>
                    </a:ext>
                  </a:extLst>
                </a:gridCol>
              </a:tblGrid>
              <a:tr h="451008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34775"/>
                  </a:ext>
                </a:extLst>
              </a:tr>
              <a:tr h="1610742">
                <a:tc>
                  <a:txBody>
                    <a:bodyPr/>
                    <a:lstStyle/>
                    <a:p>
                      <a:r>
                        <a:rPr lang="en-US" b="1" dirty="0"/>
                        <a:t>1.1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Trial Room with Computer Vision and Machine Learning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 Dec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 </a:t>
                      </a:r>
                      <a:r>
                        <a:rPr lang="en-IN" dirty="0" err="1"/>
                        <a:t>Werdayani</a:t>
                      </a:r>
                      <a:r>
                        <a:rPr lang="en-IN" dirty="0"/>
                        <a:t> </a:t>
                      </a:r>
                    </a:p>
                    <a:p>
                      <a:pPr algn="ctr"/>
                      <a:r>
                        <a:rPr lang="en-IN" dirty="0"/>
                        <a:t>&amp; </a:t>
                      </a:r>
                    </a:p>
                    <a:p>
                      <a:pPr algn="ctr"/>
                      <a:r>
                        <a:rPr lang="en-IN" dirty="0"/>
                        <a:t>I </a:t>
                      </a:r>
                      <a:r>
                        <a:rPr lang="en-IN" dirty="0" err="1"/>
                        <a:t>Widiaty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AI-driven Virtual Trial Room uses 3D models for better fitting wearables, boosting online shopping confidence.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methodologies include 3D reconstruction, object detection, ML, UX testing, and agile development.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scope includes AI personalization, AR, IoT integration, and enhanced user experiences.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870175"/>
                  </a:ext>
                </a:extLst>
              </a:tr>
              <a:tr h="1997320">
                <a:tc>
                  <a:txBody>
                    <a:bodyPr/>
                    <a:lstStyle/>
                    <a:p>
                      <a:r>
                        <a:rPr lang="en-US" b="1" dirty="0"/>
                        <a:t>1.2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ML-Based Retail Innovations: Virtual Fitting, Scanning and Recommendations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April 2023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Malhar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Bangdiwala</a:t>
                      </a:r>
                      <a:r>
                        <a:rPr lang="en-IN" dirty="0"/>
                        <a:t>, Sakshi </a:t>
                      </a:r>
                      <a:r>
                        <a:rPr lang="en-IN" dirty="0" err="1"/>
                        <a:t>Mahadik</a:t>
                      </a:r>
                      <a:r>
                        <a:rPr lang="en-IN" dirty="0"/>
                        <a:t>, Yashvi Mehta, Abhijeet </a:t>
                      </a:r>
                      <a:r>
                        <a:rPr lang="en-IN" dirty="0" err="1"/>
                        <a:t>Salunke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explores ML in retail, focusing on virtual trials, self-checkout, and personalized recommendations.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reviews literature on ML in retail, focusing on systems and customer feedback analysis.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ML in retail aims for better personalization, AR trials, efficient checkout, and sustainability.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499858"/>
                  </a:ext>
                </a:extLst>
              </a:tr>
            </a:tbl>
          </a:graphicData>
        </a:graphic>
      </p:graphicFrame>
      <p:pic>
        <p:nvPicPr>
          <p:cNvPr id="10" name="Picture 2" descr="Training &amp; Placement Cell">
            <a:extLst>
              <a:ext uri="{FF2B5EF4-FFF2-40B4-BE49-F238E27FC236}">
                <a16:creationId xmlns:a16="http://schemas.microsoft.com/office/drawing/2014/main" id="{6A4B14E4-BD04-41C9-B864-86C3ED4A6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342880" y="42633"/>
            <a:ext cx="1849120" cy="74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52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5DCD3A-3A87-5294-B54F-AC77EF29D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444245"/>
              </p:ext>
            </p:extLst>
          </p:nvPr>
        </p:nvGraphicFramePr>
        <p:xfrm>
          <a:off x="328272" y="137160"/>
          <a:ext cx="11372896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289">
                  <a:extLst>
                    <a:ext uri="{9D8B030D-6E8A-4147-A177-3AD203B41FA5}">
                      <a16:colId xmlns:a16="http://schemas.microsoft.com/office/drawing/2014/main" val="4032119182"/>
                    </a:ext>
                  </a:extLst>
                </a:gridCol>
                <a:gridCol w="2470690">
                  <a:extLst>
                    <a:ext uri="{9D8B030D-6E8A-4147-A177-3AD203B41FA5}">
                      <a16:colId xmlns:a16="http://schemas.microsoft.com/office/drawing/2014/main" val="3424808285"/>
                    </a:ext>
                  </a:extLst>
                </a:gridCol>
                <a:gridCol w="1373147">
                  <a:extLst>
                    <a:ext uri="{9D8B030D-6E8A-4147-A177-3AD203B41FA5}">
                      <a16:colId xmlns:a16="http://schemas.microsoft.com/office/drawing/2014/main" val="3049764778"/>
                    </a:ext>
                  </a:extLst>
                </a:gridCol>
                <a:gridCol w="1741831">
                  <a:extLst>
                    <a:ext uri="{9D8B030D-6E8A-4147-A177-3AD203B41FA5}">
                      <a16:colId xmlns:a16="http://schemas.microsoft.com/office/drawing/2014/main" val="1556400905"/>
                    </a:ext>
                  </a:extLst>
                </a:gridCol>
                <a:gridCol w="1557489">
                  <a:extLst>
                    <a:ext uri="{9D8B030D-6E8A-4147-A177-3AD203B41FA5}">
                      <a16:colId xmlns:a16="http://schemas.microsoft.com/office/drawing/2014/main" val="656899939"/>
                    </a:ext>
                  </a:extLst>
                </a:gridCol>
                <a:gridCol w="2031979">
                  <a:extLst>
                    <a:ext uri="{9D8B030D-6E8A-4147-A177-3AD203B41FA5}">
                      <a16:colId xmlns:a16="http://schemas.microsoft.com/office/drawing/2014/main" val="2614533926"/>
                    </a:ext>
                  </a:extLst>
                </a:gridCol>
                <a:gridCol w="1553471">
                  <a:extLst>
                    <a:ext uri="{9D8B030D-6E8A-4147-A177-3AD203B41FA5}">
                      <a16:colId xmlns:a16="http://schemas.microsoft.com/office/drawing/2014/main" val="1567895132"/>
                    </a:ext>
                  </a:extLst>
                </a:gridCol>
              </a:tblGrid>
              <a:tr h="406037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243179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r>
                        <a:rPr lang="en-US" b="1" dirty="0"/>
                        <a:t>1.3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Trial Room Using AR and 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March 2023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Omkar S. Jadhav, Kiran S. </a:t>
                      </a:r>
                      <a:r>
                        <a:rPr lang="en-IN" dirty="0" err="1"/>
                        <a:t>Ambatkar</a:t>
                      </a:r>
                      <a:r>
                        <a:rPr lang="en-IN" dirty="0"/>
                        <a:t>, Prathamesh D. Kulkarni, Anuja S. </a:t>
                      </a:r>
                      <a:r>
                        <a:rPr lang="en-IN" dirty="0" err="1"/>
                        <a:t>Modhave</a:t>
                      </a:r>
                      <a:r>
                        <a:rPr lang="en-IN" dirty="0"/>
                        <a:t>, Mrs. Supriya S. </a:t>
                      </a:r>
                      <a:r>
                        <a:rPr lang="en-IN" dirty="0" err="1"/>
                        <a:t>Gadekar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app uses AI and AR for virtual clothing trials with realistic movement and lighting.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methodology captures user images, maps bodies, and overlays realistic 3D clothing.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scope includes AI recommendations, improved simulations, and social sharing features.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71243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r>
                        <a:rPr lang="en-US" b="1" dirty="0"/>
                        <a:t>1.4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Quantifying and attenuating pathologic tremor in virtual reality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 Aug 2022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Brian A. Cohn , Dilan D. Shah , Ali </a:t>
                      </a:r>
                      <a:r>
                        <a:rPr lang="en-IN" dirty="0" err="1"/>
                        <a:t>Marjaninejad</a:t>
                      </a:r>
                      <a:r>
                        <a:rPr lang="en-IN" dirty="0"/>
                        <a:t>, Martin </a:t>
                      </a:r>
                      <a:r>
                        <a:rPr lang="en-IN" dirty="0" err="1"/>
                        <a:t>Shapiro,etc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VR experience measures tremors with smooth tracking in a fun task.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VR balloon-popping task measures tremors using smooth tracking.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VR research may enhance therapies with biofeedback and sensors.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019230"/>
                  </a:ext>
                </a:extLst>
              </a:tr>
              <a:tr h="406037">
                <a:tc>
                  <a:txBody>
                    <a:bodyPr/>
                    <a:lstStyle/>
                    <a:p>
                      <a:r>
                        <a:rPr lang="en-US" b="1" dirty="0"/>
                        <a:t>1.5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Combining Machine Learning and RAG 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 Feb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Jaswinder Singh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explores ML and RAG models for improved data retrieval.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methodology involves data preprocessing, vectorization, and model optimization.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Future scope includes enhancing retrieval accuracy and user personalization.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229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07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BCB32-BE9A-48F0-B1D2-F240B1D90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8779B3-D409-D2B8-2EBC-7F2485549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76365"/>
              </p:ext>
            </p:extLst>
          </p:nvPr>
        </p:nvGraphicFramePr>
        <p:xfrm>
          <a:off x="284785" y="90389"/>
          <a:ext cx="11622429" cy="66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858">
                  <a:extLst>
                    <a:ext uri="{9D8B030D-6E8A-4147-A177-3AD203B41FA5}">
                      <a16:colId xmlns:a16="http://schemas.microsoft.com/office/drawing/2014/main" val="4286790407"/>
                    </a:ext>
                  </a:extLst>
                </a:gridCol>
                <a:gridCol w="2519273">
                  <a:extLst>
                    <a:ext uri="{9D8B030D-6E8A-4147-A177-3AD203B41FA5}">
                      <a16:colId xmlns:a16="http://schemas.microsoft.com/office/drawing/2014/main" val="2136548442"/>
                    </a:ext>
                  </a:extLst>
                </a:gridCol>
                <a:gridCol w="1400149">
                  <a:extLst>
                    <a:ext uri="{9D8B030D-6E8A-4147-A177-3AD203B41FA5}">
                      <a16:colId xmlns:a16="http://schemas.microsoft.com/office/drawing/2014/main" val="146103441"/>
                    </a:ext>
                  </a:extLst>
                </a:gridCol>
                <a:gridCol w="1776081">
                  <a:extLst>
                    <a:ext uri="{9D8B030D-6E8A-4147-A177-3AD203B41FA5}">
                      <a16:colId xmlns:a16="http://schemas.microsoft.com/office/drawing/2014/main" val="947631955"/>
                    </a:ext>
                  </a:extLst>
                </a:gridCol>
                <a:gridCol w="1588115">
                  <a:extLst>
                    <a:ext uri="{9D8B030D-6E8A-4147-A177-3AD203B41FA5}">
                      <a16:colId xmlns:a16="http://schemas.microsoft.com/office/drawing/2014/main" val="350139512"/>
                    </a:ext>
                  </a:extLst>
                </a:gridCol>
                <a:gridCol w="2071935">
                  <a:extLst>
                    <a:ext uri="{9D8B030D-6E8A-4147-A177-3AD203B41FA5}">
                      <a16:colId xmlns:a16="http://schemas.microsoft.com/office/drawing/2014/main" val="2783798772"/>
                    </a:ext>
                  </a:extLst>
                </a:gridCol>
                <a:gridCol w="1584018">
                  <a:extLst>
                    <a:ext uri="{9D8B030D-6E8A-4147-A177-3AD203B41FA5}">
                      <a16:colId xmlns:a16="http://schemas.microsoft.com/office/drawing/2014/main" val="2282510924"/>
                    </a:ext>
                  </a:extLst>
                </a:gridCol>
              </a:tblGrid>
              <a:tr h="673319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5988"/>
                  </a:ext>
                </a:extLst>
              </a:tr>
              <a:tr h="177756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fitting room technology in fashion design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 </a:t>
                      </a:r>
                      <a:r>
                        <a:rPr lang="en-US" dirty="0" err="1"/>
                        <a:t>Werdayani</a:t>
                      </a:r>
                      <a:r>
                        <a:rPr lang="en-US" dirty="0"/>
                        <a:t> </a:t>
                      </a:r>
                    </a:p>
                    <a:p>
                      <a:pPr algn="ctr"/>
                      <a:r>
                        <a:rPr lang="en-US" dirty="0"/>
                        <a:t>  &amp;</a:t>
                      </a:r>
                    </a:p>
                    <a:p>
                      <a:pPr algn="ctr"/>
                      <a:r>
                        <a:rPr lang="en-US" dirty="0"/>
                        <a:t>I </a:t>
                      </a:r>
                      <a:r>
                        <a:rPr lang="en-US" dirty="0" err="1"/>
                        <a:t>Widiaty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explores virtual fitting rooms transforming fashion design.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Literature review highlights VFR technology’s benefits and challenges.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fitting rooms offer AR interaction for trying on clothes.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77862"/>
                  </a:ext>
                </a:extLst>
              </a:tr>
              <a:tr h="201995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Fitting Room using Webcam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Chinmay Barde, Soham Nadkarni, Nikhil Joshi and Saurabh Joshi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VFR streamlines fashion coordination with real-time garment visualization.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uses image segmentation for realistic AR clothing overlays.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2D VFR method improves garment visualization and future standardization.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83384"/>
                  </a:ext>
                </a:extLst>
              </a:tr>
              <a:tr h="177756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/>
                        <a:t>A Cost-Efficient Approach for Creating Virtual Fitting Room using Generative Adversarial Networks (GANs)</a:t>
                      </a:r>
                      <a:endParaRPr lang="en-IN" sz="1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5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50" dirty="0" err="1"/>
                        <a:t>Kirolos</a:t>
                      </a:r>
                      <a:r>
                        <a:rPr lang="en-IN" sz="1650" dirty="0"/>
                        <a:t> </a:t>
                      </a:r>
                      <a:r>
                        <a:rPr lang="en-IN" sz="1650" dirty="0" err="1"/>
                        <a:t>Attallah</a:t>
                      </a:r>
                      <a:r>
                        <a:rPr lang="en-IN" sz="1650" dirty="0"/>
                        <a:t>, Girgis </a:t>
                      </a:r>
                      <a:r>
                        <a:rPr lang="en-IN" sz="1650" dirty="0" err="1"/>
                        <a:t>Zaky</a:t>
                      </a:r>
                      <a:r>
                        <a:rPr lang="en-IN" sz="1650" dirty="0"/>
                        <a:t>, </a:t>
                      </a:r>
                      <a:r>
                        <a:rPr lang="en-IN" sz="1650" dirty="0" err="1"/>
                        <a:t>Nourhan</a:t>
                      </a:r>
                      <a:r>
                        <a:rPr lang="en-IN" sz="1650" dirty="0"/>
                        <a:t> </a:t>
                      </a:r>
                      <a:r>
                        <a:rPr lang="en-IN" sz="1650" dirty="0" err="1"/>
                        <a:t>Abdelrhim</a:t>
                      </a:r>
                      <a:r>
                        <a:rPr lang="en-IN" sz="1650" dirty="0"/>
                        <a:t>, </a:t>
                      </a:r>
                      <a:r>
                        <a:rPr lang="en-IN" sz="1650" dirty="0" err="1"/>
                        <a:t>Kyrillos</a:t>
                      </a:r>
                      <a:r>
                        <a:rPr lang="en-IN" sz="1650" dirty="0"/>
                        <a:t> Botros, Amjad </a:t>
                      </a:r>
                      <a:r>
                        <a:rPr lang="en-IN" sz="1650" dirty="0" err="1"/>
                        <a:t>Dife</a:t>
                      </a:r>
                      <a:r>
                        <a:rPr lang="en-IN" sz="1650" dirty="0"/>
                        <a:t>, Nermin </a:t>
                      </a:r>
                      <a:r>
                        <a:rPr lang="en-IN" sz="1650" dirty="0" err="1"/>
                        <a:t>Negied</a:t>
                      </a:r>
                      <a:endParaRPr lang="en-IN" sz="1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/>
                        <a:t>The VFR app enhances virtual try-ons using GANs for realism.</a:t>
                      </a:r>
                      <a:endParaRPr lang="en-IN" sz="1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/>
                        <a:t>The study's three phases ensure efficient image transformation.</a:t>
                      </a:r>
                      <a:endParaRPr lang="en-IN" sz="1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50" dirty="0"/>
                        <a:t>Future work includes expanding datasets and optimizing model performance.</a:t>
                      </a:r>
                      <a:endParaRPr lang="en-IN" sz="16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589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16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BCA64-E13A-5C2F-5AB0-84B36BAB6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168131"/>
              </p:ext>
            </p:extLst>
          </p:nvPr>
        </p:nvGraphicFramePr>
        <p:xfrm>
          <a:off x="396852" y="719138"/>
          <a:ext cx="11398296" cy="5366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89">
                  <a:extLst>
                    <a:ext uri="{9D8B030D-6E8A-4147-A177-3AD203B41FA5}">
                      <a16:colId xmlns:a16="http://schemas.microsoft.com/office/drawing/2014/main" val="3155312741"/>
                    </a:ext>
                  </a:extLst>
                </a:gridCol>
                <a:gridCol w="2470690">
                  <a:extLst>
                    <a:ext uri="{9D8B030D-6E8A-4147-A177-3AD203B41FA5}">
                      <a16:colId xmlns:a16="http://schemas.microsoft.com/office/drawing/2014/main" val="2753076953"/>
                    </a:ext>
                  </a:extLst>
                </a:gridCol>
                <a:gridCol w="1373147">
                  <a:extLst>
                    <a:ext uri="{9D8B030D-6E8A-4147-A177-3AD203B41FA5}">
                      <a16:colId xmlns:a16="http://schemas.microsoft.com/office/drawing/2014/main" val="2268342205"/>
                    </a:ext>
                  </a:extLst>
                </a:gridCol>
                <a:gridCol w="1741831">
                  <a:extLst>
                    <a:ext uri="{9D8B030D-6E8A-4147-A177-3AD203B41FA5}">
                      <a16:colId xmlns:a16="http://schemas.microsoft.com/office/drawing/2014/main" val="2002200518"/>
                    </a:ext>
                  </a:extLst>
                </a:gridCol>
                <a:gridCol w="1557489">
                  <a:extLst>
                    <a:ext uri="{9D8B030D-6E8A-4147-A177-3AD203B41FA5}">
                      <a16:colId xmlns:a16="http://schemas.microsoft.com/office/drawing/2014/main" val="2320583806"/>
                    </a:ext>
                  </a:extLst>
                </a:gridCol>
                <a:gridCol w="2031979">
                  <a:extLst>
                    <a:ext uri="{9D8B030D-6E8A-4147-A177-3AD203B41FA5}">
                      <a16:colId xmlns:a16="http://schemas.microsoft.com/office/drawing/2014/main" val="3977273144"/>
                    </a:ext>
                  </a:extLst>
                </a:gridCol>
                <a:gridCol w="1553471">
                  <a:extLst>
                    <a:ext uri="{9D8B030D-6E8A-4147-A177-3AD203B41FA5}">
                      <a16:colId xmlns:a16="http://schemas.microsoft.com/office/drawing/2014/main" val="2004307292"/>
                    </a:ext>
                  </a:extLst>
                </a:gridCol>
              </a:tblGrid>
              <a:tr h="906538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50459"/>
                  </a:ext>
                </a:extLst>
              </a:tr>
              <a:tr h="239325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Fitting Room: A One-stop Framework for Matching-aware Virtual Try-on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Mingzhe</a:t>
                      </a:r>
                      <a:r>
                        <a:rPr lang="en-IN" dirty="0"/>
                        <a:t> Yu, Yunshan Ma, Lei Wu, Kai Cheng, Xue Li, Lei Meng, Tat-Seng Chua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HMaVTON</a:t>
                      </a:r>
                      <a:r>
                        <a:rPr lang="en-US" dirty="0"/>
                        <a:t> offers personalized virtual try-ons, enhancing item compatibility.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Fitting Room enhances try-ons with GANs, ensuring user satisfaction.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aims to expand </a:t>
                      </a:r>
                      <a:r>
                        <a:rPr lang="en-US" dirty="0" err="1"/>
                        <a:t>HMaVTON</a:t>
                      </a:r>
                      <a:r>
                        <a:rPr lang="en-US" dirty="0"/>
                        <a:t> with more fashion items and styles.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974301"/>
                  </a:ext>
                </a:extLst>
              </a:tr>
              <a:tr h="206690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2.5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Trail Room: A Comprehensive Literature Survey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Sheeban</a:t>
                      </a:r>
                      <a:r>
                        <a:rPr lang="en-IN" dirty="0"/>
                        <a:t> E Tamanna, </a:t>
                      </a:r>
                      <a:r>
                        <a:rPr lang="en-IN" dirty="0" err="1"/>
                        <a:t>Vikhyath</a:t>
                      </a:r>
                      <a:r>
                        <a:rPr lang="en-IN" dirty="0"/>
                        <a:t> K S, Chandana N, Dileep K, Sony Preethi Dsouza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enables real-time clothing try-ons via standard webcams.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uses GANs for realistic try-ons through image processing.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Trial Room boosts e-commerce by enhancing customer satisfaction.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018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AEEC582-C621-D5D7-1C96-2F8FDCC284A3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  <p:pic>
        <p:nvPicPr>
          <p:cNvPr id="6" name="Picture 2" descr="Training &amp; Placement Cell">
            <a:extLst>
              <a:ext uri="{FF2B5EF4-FFF2-40B4-BE49-F238E27FC236}">
                <a16:creationId xmlns:a16="http://schemas.microsoft.com/office/drawing/2014/main" id="{B5C6ABCA-0847-EDCB-66BA-EBB9CFC3C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" t="27052" r="3607" b="46284"/>
          <a:stretch/>
        </p:blipFill>
        <p:spPr bwMode="auto">
          <a:xfrm>
            <a:off x="10634300" y="42633"/>
            <a:ext cx="1557699" cy="62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06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31EEA3-C898-09BB-6F38-B459FC16D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39995"/>
              </p:ext>
            </p:extLst>
          </p:nvPr>
        </p:nvGraphicFramePr>
        <p:xfrm>
          <a:off x="239066" y="129017"/>
          <a:ext cx="11713868" cy="6599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230">
                  <a:extLst>
                    <a:ext uri="{9D8B030D-6E8A-4147-A177-3AD203B41FA5}">
                      <a16:colId xmlns:a16="http://schemas.microsoft.com/office/drawing/2014/main" val="3155312741"/>
                    </a:ext>
                  </a:extLst>
                </a:gridCol>
                <a:gridCol w="2539093">
                  <a:extLst>
                    <a:ext uri="{9D8B030D-6E8A-4147-A177-3AD203B41FA5}">
                      <a16:colId xmlns:a16="http://schemas.microsoft.com/office/drawing/2014/main" val="2753076953"/>
                    </a:ext>
                  </a:extLst>
                </a:gridCol>
                <a:gridCol w="1411164">
                  <a:extLst>
                    <a:ext uri="{9D8B030D-6E8A-4147-A177-3AD203B41FA5}">
                      <a16:colId xmlns:a16="http://schemas.microsoft.com/office/drawing/2014/main" val="2268342205"/>
                    </a:ext>
                  </a:extLst>
                </a:gridCol>
                <a:gridCol w="1790055">
                  <a:extLst>
                    <a:ext uri="{9D8B030D-6E8A-4147-A177-3AD203B41FA5}">
                      <a16:colId xmlns:a16="http://schemas.microsoft.com/office/drawing/2014/main" val="2002200518"/>
                    </a:ext>
                  </a:extLst>
                </a:gridCol>
                <a:gridCol w="1600610">
                  <a:extLst>
                    <a:ext uri="{9D8B030D-6E8A-4147-A177-3AD203B41FA5}">
                      <a16:colId xmlns:a16="http://schemas.microsoft.com/office/drawing/2014/main" val="2320583806"/>
                    </a:ext>
                  </a:extLst>
                </a:gridCol>
                <a:gridCol w="2088235">
                  <a:extLst>
                    <a:ext uri="{9D8B030D-6E8A-4147-A177-3AD203B41FA5}">
                      <a16:colId xmlns:a16="http://schemas.microsoft.com/office/drawing/2014/main" val="3977273144"/>
                    </a:ext>
                  </a:extLst>
                </a:gridCol>
                <a:gridCol w="1596481">
                  <a:extLst>
                    <a:ext uri="{9D8B030D-6E8A-4147-A177-3AD203B41FA5}">
                      <a16:colId xmlns:a16="http://schemas.microsoft.com/office/drawing/2014/main" val="2004307292"/>
                    </a:ext>
                  </a:extLst>
                </a:gridCol>
              </a:tblGrid>
              <a:tr h="752449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50459"/>
                  </a:ext>
                </a:extLst>
              </a:tr>
              <a:tr h="181460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Immersive Color Perception: How Virtual Environments Influence Emotions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J. Smith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 schemes in VR influence users' emotions and immersion levels.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used mixed methods to assess VR color effects on emotion.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research may focus on cross-cultural color perception in VR.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974301"/>
                  </a:ext>
                </a:extLst>
              </a:tr>
              <a:tr h="1986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Virtual Dressing Room: Enhancing Fashion Retail with Kinect Technology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 Chen et al.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Kinect boosts virtual dressing rooms, enhancing engagement and lowering returns.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Prototype tests with shoppers assessed Kinect's impact on satisfaction and intent.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development includes mobile expansion and AI for size adjustments.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01803"/>
                  </a:ext>
                </a:extLst>
              </a:tr>
              <a:tr h="19864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Interactive Virtual Mirror: Merging Augmented Reality with Human Avatars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M. Gupta et al.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 virtual mirror enhances personalization with realistic avatars in retail.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Laboratory tests with AR involved eye-tracking and participant feedback.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research will focus on multi-user interactions and telepresence.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55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4767B-C0E9-4F4A-8107-A0E79B686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489684"/>
              </p:ext>
            </p:extLst>
          </p:nvPr>
        </p:nvGraphicFramePr>
        <p:xfrm>
          <a:off x="396852" y="541227"/>
          <a:ext cx="11398296" cy="5775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89">
                  <a:extLst>
                    <a:ext uri="{9D8B030D-6E8A-4147-A177-3AD203B41FA5}">
                      <a16:colId xmlns:a16="http://schemas.microsoft.com/office/drawing/2014/main" val="3037512725"/>
                    </a:ext>
                  </a:extLst>
                </a:gridCol>
                <a:gridCol w="2470690">
                  <a:extLst>
                    <a:ext uri="{9D8B030D-6E8A-4147-A177-3AD203B41FA5}">
                      <a16:colId xmlns:a16="http://schemas.microsoft.com/office/drawing/2014/main" val="3799136075"/>
                    </a:ext>
                  </a:extLst>
                </a:gridCol>
                <a:gridCol w="1373147">
                  <a:extLst>
                    <a:ext uri="{9D8B030D-6E8A-4147-A177-3AD203B41FA5}">
                      <a16:colId xmlns:a16="http://schemas.microsoft.com/office/drawing/2014/main" val="2895471639"/>
                    </a:ext>
                  </a:extLst>
                </a:gridCol>
                <a:gridCol w="1741831">
                  <a:extLst>
                    <a:ext uri="{9D8B030D-6E8A-4147-A177-3AD203B41FA5}">
                      <a16:colId xmlns:a16="http://schemas.microsoft.com/office/drawing/2014/main" val="2974658095"/>
                    </a:ext>
                  </a:extLst>
                </a:gridCol>
                <a:gridCol w="1557489">
                  <a:extLst>
                    <a:ext uri="{9D8B030D-6E8A-4147-A177-3AD203B41FA5}">
                      <a16:colId xmlns:a16="http://schemas.microsoft.com/office/drawing/2014/main" val="15523080"/>
                    </a:ext>
                  </a:extLst>
                </a:gridCol>
                <a:gridCol w="2031979">
                  <a:extLst>
                    <a:ext uri="{9D8B030D-6E8A-4147-A177-3AD203B41FA5}">
                      <a16:colId xmlns:a16="http://schemas.microsoft.com/office/drawing/2014/main" val="1457296141"/>
                    </a:ext>
                  </a:extLst>
                </a:gridCol>
                <a:gridCol w="1553471">
                  <a:extLst>
                    <a:ext uri="{9D8B030D-6E8A-4147-A177-3AD203B41FA5}">
                      <a16:colId xmlns:a16="http://schemas.microsoft.com/office/drawing/2014/main" val="2226877227"/>
                    </a:ext>
                  </a:extLst>
                </a:gridCol>
              </a:tblGrid>
              <a:tr h="816623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173759"/>
                  </a:ext>
                </a:extLst>
              </a:tr>
              <a:tr h="274385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Beyond Virtual Reality: The Next Leap in Immersive Experiences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2025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 Patel et al.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predicts a shift to fully immersive environments with mixed reality and haptics.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methodology included literature review, expert interviews, and trend analysis.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paper suggests developing prototypes that blend olfactory and tactile stimuli for deeper immersion.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429181"/>
                  </a:ext>
                </a:extLst>
              </a:tr>
              <a:tr h="221507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3.5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AI-Powered Virtual Fitting Room: Transforming the Shopping Experience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2023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K. Nguyen et al.</a:t>
                      </a:r>
                      <a:b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AI-driven virtual fitting room enhances user satisfaction and decision-making online.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research involved AI training, participant testing, and satisfaction analysis.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plans include social media integration and AR glasses for in-store use.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5014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232FFCC-B8AC-7D1A-A52B-C1C779B280AA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</p:spTree>
    <p:extLst>
      <p:ext uri="{BB962C8B-B14F-4D97-AF65-F5344CB8AC3E}">
        <p14:creationId xmlns:p14="http://schemas.microsoft.com/office/powerpoint/2010/main" val="114087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F3D5B3-6111-8DB0-407A-C90CF14AB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32944"/>
              </p:ext>
            </p:extLst>
          </p:nvPr>
        </p:nvGraphicFramePr>
        <p:xfrm>
          <a:off x="320040" y="394019"/>
          <a:ext cx="11398296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89">
                  <a:extLst>
                    <a:ext uri="{9D8B030D-6E8A-4147-A177-3AD203B41FA5}">
                      <a16:colId xmlns:a16="http://schemas.microsoft.com/office/drawing/2014/main" val="3149098685"/>
                    </a:ext>
                  </a:extLst>
                </a:gridCol>
                <a:gridCol w="2470690">
                  <a:extLst>
                    <a:ext uri="{9D8B030D-6E8A-4147-A177-3AD203B41FA5}">
                      <a16:colId xmlns:a16="http://schemas.microsoft.com/office/drawing/2014/main" val="2307876024"/>
                    </a:ext>
                  </a:extLst>
                </a:gridCol>
                <a:gridCol w="1009981">
                  <a:extLst>
                    <a:ext uri="{9D8B030D-6E8A-4147-A177-3AD203B41FA5}">
                      <a16:colId xmlns:a16="http://schemas.microsoft.com/office/drawing/2014/main" val="3614642284"/>
                    </a:ext>
                  </a:extLst>
                </a:gridCol>
                <a:gridCol w="2104997">
                  <a:extLst>
                    <a:ext uri="{9D8B030D-6E8A-4147-A177-3AD203B41FA5}">
                      <a16:colId xmlns:a16="http://schemas.microsoft.com/office/drawing/2014/main" val="2272722941"/>
                    </a:ext>
                  </a:extLst>
                </a:gridCol>
                <a:gridCol w="1776123">
                  <a:extLst>
                    <a:ext uri="{9D8B030D-6E8A-4147-A177-3AD203B41FA5}">
                      <a16:colId xmlns:a16="http://schemas.microsoft.com/office/drawing/2014/main" val="1799786898"/>
                    </a:ext>
                  </a:extLst>
                </a:gridCol>
                <a:gridCol w="1813345">
                  <a:extLst>
                    <a:ext uri="{9D8B030D-6E8A-4147-A177-3AD203B41FA5}">
                      <a16:colId xmlns:a16="http://schemas.microsoft.com/office/drawing/2014/main" val="3625843090"/>
                    </a:ext>
                  </a:extLst>
                </a:gridCol>
                <a:gridCol w="1553471">
                  <a:extLst>
                    <a:ext uri="{9D8B030D-6E8A-4147-A177-3AD203B41FA5}">
                      <a16:colId xmlns:a16="http://schemas.microsoft.com/office/drawing/2014/main" val="3088571128"/>
                    </a:ext>
                  </a:extLst>
                </a:gridCol>
              </a:tblGrid>
              <a:tr h="485034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824550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Exploring </a:t>
                      </a:r>
                      <a:r>
                        <a:rPr lang="en-US" dirty="0" err="1"/>
                        <a:t>Colour</a:t>
                      </a:r>
                      <a:r>
                        <a:rPr lang="en-US" dirty="0"/>
                        <a:t> in Context Using Virtual Reality: Does a Room Change How You Feel?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Ruby Lipson-Smith, Julie Bernhardt, Edoardo </a:t>
                      </a:r>
                      <a:r>
                        <a:rPr lang="en-IN" dirty="0" err="1"/>
                        <a:t>Zamuner</a:t>
                      </a:r>
                      <a:r>
                        <a:rPr lang="en-IN" dirty="0"/>
                        <a:t>, Leonid </a:t>
                      </a:r>
                      <a:r>
                        <a:rPr lang="en-IN" dirty="0" err="1"/>
                        <a:t>Churilov</a:t>
                      </a:r>
                      <a:r>
                        <a:rPr lang="en-IN" dirty="0"/>
                        <a:t>, Nick </a:t>
                      </a:r>
                      <a:r>
                        <a:rPr lang="en-IN" dirty="0" err="1"/>
                        <a:t>Busietta</a:t>
                      </a:r>
                      <a:r>
                        <a:rPr lang="en-IN" dirty="0"/>
                        <a:t>, Damian Morat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Study shows VR affects color perception and mood by setting.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study used VR to assess mood and color preference in rooms.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research could explore color-mood effects in diverse environments.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97499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r>
                        <a:rPr lang="en-US" b="1" dirty="0"/>
                        <a:t>4.2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Dressing Room Application with Virtual Human Using Kinect Sensor in the Era of Industry 4.0/5.0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Muhammed </a:t>
                      </a:r>
                      <a:r>
                        <a:rPr lang="en-IN" dirty="0" err="1"/>
                        <a:t>Kotan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Cemil</a:t>
                      </a:r>
                      <a:r>
                        <a:rPr lang="en-IN" dirty="0"/>
                        <a:t> Öz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uses Kinect and VR for efficient virtual clothing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Kinect SDK enables real-time tracking for interactive virtual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could enhance the system with AI and more garment options.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221832"/>
                  </a:ext>
                </a:extLst>
              </a:tr>
              <a:tr h="103589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Mirror with Virtual Human Using Kinect Sensor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Muhammed </a:t>
                      </a:r>
                      <a:r>
                        <a:rPr lang="en-IN" dirty="0" err="1"/>
                        <a:t>Kotan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Cemil</a:t>
                      </a:r>
                      <a:r>
                        <a:rPr lang="en-IN" dirty="0"/>
                        <a:t> Öz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enhances online shopping with Kinect and VR for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Kinect SDK and Unity enable interactive, user-friendly virtual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improvements may include AI integration and more customization options.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502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988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6C122E-79D2-D06B-8713-0460C2AA1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50666"/>
              </p:ext>
            </p:extLst>
          </p:nvPr>
        </p:nvGraphicFramePr>
        <p:xfrm>
          <a:off x="396852" y="739458"/>
          <a:ext cx="11398296" cy="5630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89">
                  <a:extLst>
                    <a:ext uri="{9D8B030D-6E8A-4147-A177-3AD203B41FA5}">
                      <a16:colId xmlns:a16="http://schemas.microsoft.com/office/drawing/2014/main" val="1424748733"/>
                    </a:ext>
                  </a:extLst>
                </a:gridCol>
                <a:gridCol w="2470690">
                  <a:extLst>
                    <a:ext uri="{9D8B030D-6E8A-4147-A177-3AD203B41FA5}">
                      <a16:colId xmlns:a16="http://schemas.microsoft.com/office/drawing/2014/main" val="3286417005"/>
                    </a:ext>
                  </a:extLst>
                </a:gridCol>
                <a:gridCol w="1009981">
                  <a:extLst>
                    <a:ext uri="{9D8B030D-6E8A-4147-A177-3AD203B41FA5}">
                      <a16:colId xmlns:a16="http://schemas.microsoft.com/office/drawing/2014/main" val="3274180975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19493274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val="2070819100"/>
                    </a:ext>
                  </a:extLst>
                </a:gridCol>
                <a:gridCol w="1813345">
                  <a:extLst>
                    <a:ext uri="{9D8B030D-6E8A-4147-A177-3AD203B41FA5}">
                      <a16:colId xmlns:a16="http://schemas.microsoft.com/office/drawing/2014/main" val="454305732"/>
                    </a:ext>
                  </a:extLst>
                </a:gridCol>
                <a:gridCol w="1553471">
                  <a:extLst>
                    <a:ext uri="{9D8B030D-6E8A-4147-A177-3AD203B41FA5}">
                      <a16:colId xmlns:a16="http://schemas.microsoft.com/office/drawing/2014/main" val="1219769806"/>
                    </a:ext>
                  </a:extLst>
                </a:gridCol>
              </a:tblGrid>
              <a:tr h="848021">
                <a:tc>
                  <a:txBody>
                    <a:bodyPr/>
                    <a:lstStyle/>
                    <a:p>
                      <a:r>
                        <a:rPr lang="en-US" dirty="0"/>
                        <a:t>Sr.</a:t>
                      </a:r>
                    </a:p>
                    <a:p>
                      <a:r>
                        <a:rPr lang="en-US" dirty="0"/>
                        <a:t>No.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Title of Paper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Author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Abstract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61545"/>
                  </a:ext>
                </a:extLst>
              </a:tr>
              <a:tr h="22387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Step Change from Virtual Reality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Alan Chalmers, David M. Howard, Christopher Moir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Virtuality enhances VR by engaging all senses for immersive experiences.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Virtuality uses the Virtual Cocoon for immersive multi-sensory experiences.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may expand Real Virtuality applications in more industries and settings.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507479"/>
                  </a:ext>
                </a:extLst>
              </a:tr>
              <a:tr h="254406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Virtual Trial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Sakshi </a:t>
                      </a:r>
                      <a:r>
                        <a:rPr lang="en-IN" dirty="0" err="1"/>
                        <a:t>Mahadik</a:t>
                      </a:r>
                      <a:r>
                        <a:rPr lang="en-IN" dirty="0"/>
                        <a:t>, Yashvi Mehta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Virtual Trial Room enhances shopping by enabling virtual clothing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employs </a:t>
                      </a:r>
                      <a:r>
                        <a:rPr lang="en-US" dirty="0" err="1"/>
                        <a:t>Haar</a:t>
                      </a:r>
                      <a:r>
                        <a:rPr lang="en-US" dirty="0"/>
                        <a:t> Classifier and OpenCV for realistic virtual try-ons.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developments could include AI enhancements and broader clothing options.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9119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F0DAB98-685A-1086-4505-20B1B6B2E022}"/>
              </a:ext>
            </a:extLst>
          </p:cNvPr>
          <p:cNvSpPr/>
          <p:nvPr/>
        </p:nvSpPr>
        <p:spPr>
          <a:xfrm>
            <a:off x="10634301" y="6415257"/>
            <a:ext cx="147491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#TheBoys</a:t>
            </a:r>
          </a:p>
        </p:txBody>
      </p:sp>
    </p:spTree>
    <p:extLst>
      <p:ext uri="{BB962C8B-B14F-4D97-AF65-F5344CB8AC3E}">
        <p14:creationId xmlns:p14="http://schemas.microsoft.com/office/powerpoint/2010/main" val="2423565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89547-4510-3B6C-1193-196C8860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1561" y="2700867"/>
            <a:ext cx="5176519" cy="1647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IN" sz="72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A56C6-4048-DEFA-A08D-5195823B3BE5}"/>
              </a:ext>
            </a:extLst>
          </p:cNvPr>
          <p:cNvSpPr/>
          <p:nvPr/>
        </p:nvSpPr>
        <p:spPr>
          <a:xfrm>
            <a:off x="4984955" y="4227870"/>
            <a:ext cx="181634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</a:t>
            </a:r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TheBoys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5DF29-F558-2A97-E67F-6FB12C79D090}"/>
              </a:ext>
            </a:extLst>
          </p:cNvPr>
          <p:cNvSpPr txBox="1"/>
          <p:nvPr/>
        </p:nvSpPr>
        <p:spPr>
          <a:xfrm>
            <a:off x="624593" y="1457151"/>
            <a:ext cx="113215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Your Security Our Priority</a:t>
            </a:r>
          </a:p>
        </p:txBody>
      </p:sp>
      <p:pic>
        <p:nvPicPr>
          <p:cNvPr id="5122" name="Picture 2" descr="School boys cartoon Stock Vector Image &amp; Art - Alamy">
            <a:extLst>
              <a:ext uri="{FF2B5EF4-FFF2-40B4-BE49-F238E27FC236}">
                <a16:creationId xmlns:a16="http://schemas.microsoft.com/office/drawing/2014/main" id="{66AB861C-CF7A-8F92-B84A-B14E60A74B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0" t="7907" r="397" b="7735"/>
          <a:stretch/>
        </p:blipFill>
        <p:spPr bwMode="auto">
          <a:xfrm>
            <a:off x="9330813" y="4862185"/>
            <a:ext cx="2615379" cy="1823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291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853</TotalTime>
  <Words>1662</Words>
  <Application>Microsoft Office PowerPoint</Application>
  <PresentationFormat>Widescreen</PresentationFormat>
  <Paragraphs>266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Abadi</vt:lpstr>
      <vt:lpstr>ADLaM Display</vt:lpstr>
      <vt:lpstr>Aldhabi</vt:lpstr>
      <vt:lpstr>Arial</vt:lpstr>
      <vt:lpstr>Arial Black</vt:lpstr>
      <vt:lpstr>Calibri</vt:lpstr>
      <vt:lpstr>Calibri Light</vt:lpstr>
      <vt:lpstr>Century Schoolbook</vt:lpstr>
      <vt:lpstr>DM Sans Merlin</vt:lpstr>
      <vt:lpstr>Wingdings</vt:lpstr>
      <vt:lpstr>Wingdings,Sans-Serif</vt:lpstr>
      <vt:lpstr>Celestial</vt:lpstr>
      <vt:lpstr>Let's Do Something New Style Secure Zone</vt:lpstr>
      <vt:lpstr>Abstract of  project :</vt:lpstr>
      <vt:lpstr>          Motivation for project</vt:lpstr>
      <vt:lpstr>Methodology Use in Project</vt:lpstr>
      <vt:lpstr>PowerPoint Presentation</vt:lpstr>
      <vt:lpstr>Innovative Research Module in project</vt:lpstr>
      <vt:lpstr>Screenshot of Project working model</vt:lpstr>
      <vt:lpstr>PowerPoint Presentation</vt:lpstr>
      <vt:lpstr>Research Paper For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Mali</dc:creator>
  <cp:lastModifiedBy>Prakash Mali</cp:lastModifiedBy>
  <cp:revision>6</cp:revision>
  <dcterms:created xsi:type="dcterms:W3CDTF">2025-02-21T04:10:51Z</dcterms:created>
  <dcterms:modified xsi:type="dcterms:W3CDTF">2025-11-28T16:11:21Z</dcterms:modified>
</cp:coreProperties>
</file>